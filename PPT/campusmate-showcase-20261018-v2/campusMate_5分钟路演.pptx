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ed68718784dda" /><Relationship Type="http://schemas.openxmlformats.org/officeDocument/2006/relationships/extended-properties" Target="/docProps/app.xml" Id="R6c258f2460f94a58" /><Relationship Type="http://schemas.openxmlformats.org/officeDocument/2006/relationships/officeDocument" Target="/ppt/presentation.xml" Id="R345802980cbb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5ca08e90874245"/>
  </p:sldMasterIdLst>
  <p:notesMasterIdLst>
    <p:notesMasterId xmlns:r="http://schemas.openxmlformats.org/officeDocument/2006/relationships" r:id="Rb277c6c9edec4a7c"/>
  </p:notesMasterIdLst>
  <p:sldIdLst>
    <p:sldId xmlns:r="http://schemas.openxmlformats.org/officeDocument/2006/relationships" id="256" r:id="R9d96f50b9f214d99"/>
    <p:sldId xmlns:r="http://schemas.openxmlformats.org/officeDocument/2006/relationships" id="257" r:id="Rb7325f5a971b4a5e"/>
    <p:sldId xmlns:r="http://schemas.openxmlformats.org/officeDocument/2006/relationships" id="258" r:id="Rf93258ee6ba242ce"/>
    <p:sldId xmlns:r="http://schemas.openxmlformats.org/officeDocument/2006/relationships" id="259" r:id="Rb2d28e1b43b24f93"/>
    <p:sldId xmlns:r="http://schemas.openxmlformats.org/officeDocument/2006/relationships" id="260" r:id="Rf8e50ad22c9d411a"/>
    <p:sldId xmlns:r="http://schemas.openxmlformats.org/officeDocument/2006/relationships" id="261" r:id="R5ca96d8ffdf04012"/>
    <p:sldId xmlns:r="http://schemas.openxmlformats.org/officeDocument/2006/relationships" id="262" r:id="Rfc079d5a0c3c437e"/>
    <p:sldId xmlns:r="http://schemas.openxmlformats.org/officeDocument/2006/relationships" id="263" r:id="R7d735b4a773a4754"/>
    <p:sldId xmlns:r="http://schemas.openxmlformats.org/officeDocument/2006/relationships" id="264" r:id="Rd3e8100707384229"/>
    <p:sldId xmlns:r="http://schemas.openxmlformats.org/officeDocument/2006/relationships" id="265" r:id="R1c490a4dadaa4be9"/>
    <p:sldId xmlns:r="http://schemas.openxmlformats.org/officeDocument/2006/relationships" id="266" r:id="Rdfb798bb64bf4eb8"/>
    <p:sldId xmlns:r="http://schemas.openxmlformats.org/officeDocument/2006/relationships" id="267" r:id="Ra28c54b81cae4551"/>
    <p:sldId xmlns:r="http://schemas.openxmlformats.org/officeDocument/2006/relationships" id="268" r:id="Rd4434797cfe14b7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c4cafea0e44ca8" /><Relationship Type="http://schemas.openxmlformats.org/officeDocument/2006/relationships/slideMaster" Target="/ppt/slideMasters/slideMaster1.xml" Id="R0f5ca08e90874245" /><Relationship Type="http://schemas.openxmlformats.org/officeDocument/2006/relationships/notesMaster" Target="/ppt/notesMasters/notesMaster1.xml" Id="Rb277c6c9edec4a7c" /><Relationship Type="http://schemas.openxmlformats.org/officeDocument/2006/relationships/presProps" Target="/ppt/presProps.xml" Id="Rfbbe02a4f5a64ff0" /><Relationship Type="http://schemas.openxmlformats.org/officeDocument/2006/relationships/viewProps" Target="/ppt/viewProps.xml" Id="R190fdd8e4e374d25" /><Relationship Type="http://schemas.openxmlformats.org/officeDocument/2006/relationships/tableStyles" Target="/ppt/tableStyles.xml" Id="Rb48cd7b1ca3542be" /><Relationship Type="http://schemas.openxmlformats.org/officeDocument/2006/relationships/slide" Target="/ppt/slides/slide1.xml" Id="R9d96f50b9f214d99" /><Relationship Type="http://schemas.openxmlformats.org/officeDocument/2006/relationships/slide" Target="/ppt/slides/slide2.xml" Id="Rb7325f5a971b4a5e" /><Relationship Type="http://schemas.openxmlformats.org/officeDocument/2006/relationships/slide" Target="/ppt/slides/slide3.xml" Id="Rf93258ee6ba242ce" /><Relationship Type="http://schemas.openxmlformats.org/officeDocument/2006/relationships/slide" Target="/ppt/slides/slide4.xml" Id="Rb2d28e1b43b24f93" /><Relationship Type="http://schemas.openxmlformats.org/officeDocument/2006/relationships/slide" Target="/ppt/slides/slide5.xml" Id="Rf8e50ad22c9d411a" /><Relationship Type="http://schemas.openxmlformats.org/officeDocument/2006/relationships/slide" Target="/ppt/slides/slide6.xml" Id="R5ca96d8ffdf04012" /><Relationship Type="http://schemas.openxmlformats.org/officeDocument/2006/relationships/slide" Target="/ppt/slides/slide7.xml" Id="Rfc079d5a0c3c437e" /><Relationship Type="http://schemas.openxmlformats.org/officeDocument/2006/relationships/slide" Target="/ppt/slides/slide8.xml" Id="R7d735b4a773a4754" /><Relationship Type="http://schemas.openxmlformats.org/officeDocument/2006/relationships/slide" Target="/ppt/slides/slide9.xml" Id="Rd3e8100707384229" /><Relationship Type="http://schemas.openxmlformats.org/officeDocument/2006/relationships/slide" Target="/ppt/slides/slide10.xml" Id="R1c490a4dadaa4be9" /><Relationship Type="http://schemas.openxmlformats.org/officeDocument/2006/relationships/slide" Target="/ppt/slides/slide11.xml" Id="Rdfb798bb64bf4eb8" /><Relationship Type="http://schemas.openxmlformats.org/officeDocument/2006/relationships/slide" Target="/ppt/slides/slide12.xml" Id="Ra28c54b81cae4551" /><Relationship Type="http://schemas.openxmlformats.org/officeDocument/2006/relationships/slide" Target="/ppt/slides/slide13.xml" Id="Rd4434797cfe14b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7e95f69604e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ampusMate">
      <a:dk1>
        <a:srgbClr val="000000"/>
      </a:dk1>
      <a:lt1>
        <a:srgbClr val="FFFFFF"/>
      </a:lt1>
      <a:dk2>
        <a:srgbClr val="202C40"/>
      </a:dk2>
      <a:lt2>
        <a:srgbClr val="F5F7FB"/>
      </a:lt2>
      <a:accent1>
        <a:srgbClr val="596CE8"/>
      </a:accent1>
      <a:accent2>
        <a:srgbClr val="ABE5D6"/>
      </a:accent2>
      <a:accent3>
        <a:srgbClr val="CAD5E8"/>
      </a:accent3>
      <a:accent4>
        <a:srgbClr val="E9C16F"/>
      </a:accent4>
      <a:accent5>
        <a:srgbClr val="667B98"/>
      </a:accent5>
      <a:accent6>
        <a:srgbClr val="BFD8E6"/>
      </a:accent6>
      <a:hlink>
        <a:srgbClr val="596CE8"/>
      </a:hlink>
      <a:folHlink>
        <a:srgbClr val="775ACB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ampusM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151360c0de45a1" /><Relationship Type="http://schemas.openxmlformats.org/officeDocument/2006/relationships/notesMaster" Target="/ppt/notesMasters/notesMaster1.xml" Id="Rf3009c0650c7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3d9a322c6d436a" /><Relationship Type="http://schemas.openxmlformats.org/officeDocument/2006/relationships/notesMaster" Target="/ppt/notesMasters/notesMaster1.xml" Id="R0f1b3065ec5849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50c6599e4d4190" /><Relationship Type="http://schemas.openxmlformats.org/officeDocument/2006/relationships/notesMaster" Target="/ppt/notesMasters/notesMaster1.xml" Id="Rfafcb1f804a44f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1a082a9ae412a" /><Relationship Type="http://schemas.openxmlformats.org/officeDocument/2006/relationships/notesMaster" Target="/ppt/notesMasters/notesMaster1.xml" Id="R975bc691720c4c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a4f7ebba1f414c" /><Relationship Type="http://schemas.openxmlformats.org/officeDocument/2006/relationships/notesMaster" Target="/ppt/notesMasters/notesMaster1.xml" Id="R29e1d13036b0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fd99f7139e41ac" /><Relationship Type="http://schemas.openxmlformats.org/officeDocument/2006/relationships/notesMaster" Target="/ppt/notesMasters/notesMaster1.xml" Id="R046d9714613440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2dd2586ef84d3f" /><Relationship Type="http://schemas.openxmlformats.org/officeDocument/2006/relationships/notesMaster" Target="/ppt/notesMasters/notesMaster1.xml" Id="R7979aa4ba6e04e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70825ed9974aed" /><Relationship Type="http://schemas.openxmlformats.org/officeDocument/2006/relationships/notesMaster" Target="/ppt/notesMasters/notesMaster1.xml" Id="Ra1218b5700404d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4d3e6117764b99" /><Relationship Type="http://schemas.openxmlformats.org/officeDocument/2006/relationships/notesMaster" Target="/ppt/notesMasters/notesMaster1.xml" Id="R82309ac1eb8547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c946d3b4484fcd" /><Relationship Type="http://schemas.openxmlformats.org/officeDocument/2006/relationships/notesMaster" Target="/ppt/notesMasters/notesMaster1.xml" Id="R50b7e2d4944b4e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9e52f6da3241e9" /><Relationship Type="http://schemas.openxmlformats.org/officeDocument/2006/relationships/notesMaster" Target="/ppt/notesMasters/notesMaster1.xml" Id="R5e9a2db3bf404b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1e09ae098f4d6b" /><Relationship Type="http://schemas.openxmlformats.org/officeDocument/2006/relationships/notesMaster" Target="/ppt/notesMasters/notesMaster1.xml" Id="R390b160ff2714e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10f99c466f4f67" /><Relationship Type="http://schemas.openxmlformats.org/officeDocument/2006/relationships/notesMaster" Target="/ppt/notesMasters/notesMaster1.xml" Id="R15585306204d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主讲时间 0:00–0:20，约20秒。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大家好，我们是 AAA罗德岛工程部。大学生活里，截止日期会准时到来，学习安排却经常还没开始。我们做了 campusMate，一个把课程资料、作业和日程放在一起的 AI 工作台。我们希望它能帮同学更快弄清楚，接下来该做什么。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操作提示：介绍团队和产品定位。开场白来自产品彩蛋，不逐字翻译英文。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团队信息取自提供的参考材料</a:t>
            </a:r>
          </a:p>
          <a:p xmlns:a="http://schemas.openxmlformats.org/drawingml/2006/main">
            <a:r>
              <a:t>项目 README.md 与品牌资产</a:t>
            </a:r>
          </a:p>
          <a:p xmlns:a="http://schemas.openxmlformats.org/drawingml/2006/main">
            <a:r>
              <a:t>用户提供的 Powered by AI / DDL 供能彩蛋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主讲时间 0:20–0:45，约25秒。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设想一个周日晚上：有两份作业快到期，邮箱又发来一场讲座，明天还有课。先交哪一份？讲座和自己有什么关系？复习该从哪里开始？回答这些问题，需要拼起各个平台的信息。campusMate 把这一步放进一个工作台，让每个安排都能找到依据。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操作提示：这是叙事场景。两项当日截止来自本次截图，讲座安排在后续日期，不说是当晚活动。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10.18.txt 的学习事务需求</a:t>
            </a:r>
          </a:p>
          <a:p xmlns:a="http://schemas.openxmlformats.org/drawingml/2006/main">
            <a:r>
              <a:t>2026-10-18 重新查看的首页、作业与讲座通知</a:t>
            </a:r>
          </a:p>
          <a:p xmlns:a="http://schemas.openxmlformats.org/drawingml/2006/main">
            <a:r>
              <a:t>用户提供的待办清单彩蛋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主讲时间 0:45–1:25，约40秒。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先看今天实际打开的作业页。切到二十四小时内，可以看到两项待完成作业，课程、截止时间、提交状态和原站入口都在同一行。这里要解决的细节是状态：草稿、已提交、已评分需要区分，来源不明确的记录也需要核实。课程中心再把同一门课的课件、录播和上课安排关联起来。这样，用户能先核对自己的任务，再进入学习规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操作提示：指向重新截取的两项作业。画面是10月18日的真实运行记录，现场数量随日期变化，按当时界面讲。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本次重新截图 fresh-assignments.png，http://127.0.0.1:16666/#assignments</a:t>
            </a:r>
          </a:p>
          <a:p xmlns:a="http://schemas.openxmlformats.org/drawingml/2006/main">
            <a:r>
              <a:t>本次重新截图 fresh-courses.png</a:t>
            </a:r>
          </a:p>
          <a:p xmlns:a="http://schemas.openxmlformats.org/drawingml/2006/main">
            <a:r>
              <a:t>modules/assignments/README.md 与 modules/courses/README.md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主讲时间 1:25–2:40，约75秒。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接下来切到实际界面。我们先确认刚才那两项作业，再打开已经完成的这条提问：核对本周未完成的作业，结合截止、课表和可用时间制定计划。回答先列出截止，再给出可调整的顺序。向下展开参考资料，可以核对原始截止和作业要求，也能回到来源。这里还明确区分了估计的工作量和老师的要求，并指出需要补充的可用时段。最后打开时间表，查看课程与截止，以及日历导出入口。这条回答目前只是建议，尚未保存为新安排；保存需要明确的操作意图和实际回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操作提示：切至16666端口的demo。打开10月18日16:25的已有作业规划对话，按75秒操作表展示。不要在台上重新生成长回答，也不要将只读展示说成已保存日程。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当前截图与示范使用10月18日16:25的历史回答，不是本次制作时重新生成。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本次重新截图 fresh-assistant-plan.png 与 fresh-assistant-sources.png</a:t>
            </a:r>
          </a:p>
          <a:p xmlns:a="http://schemas.openxmlformats.org/drawingml/2006/main">
            <a:r>
              <a:t>本次实际查看的已有学习助手对话，2026-10-18 16:25</a:t>
            </a:r>
          </a:p>
          <a:p xmlns:a="http://schemas.openxmlformats.org/drawingml/2006/main">
            <a:r>
              <a:t>本次重新截图 fresh-calendar-export.png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主讲时间 2:40–3:20，约40秒。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技术上，我们把任务拆成取资料、核对依据和执行操作。十九个模块通过公开接口协作，官方 Harness 负责运行原生插件。团队实现校园工具和业务校验：引用必须对应本轮读取的原文，保存时检查账号和记录版本，修改本地安排还需要明确意愿，并返回实际结果。学校凭据和模型密钥由共享服务加密管理，所需学习资料才发送给选定模型。这些机制让资料来源、操作范围和完成状态都能被检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操作提示：讲清团队业务实现与第三方运行时的分工。不要声称引用校验可以保证所有推理正确。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学校凭据与模型密钥由共享服务管理。所需学习资料会发送至用户选择的模型服务。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docs/MODULES.md</a:t>
            </a:r>
          </a:p>
          <a:p xmlns:a="http://schemas.openxmlformats.org/drawingml/2006/main">
            <a:r>
              <a:t>docs/AI.md</a:t>
            </a:r>
          </a:p>
          <a:p xmlns:a="http://schemas.openxmlformats.org/drawingml/2006/main">
            <a:r>
              <a:t>modules/academic-assistant/README.md</a:t>
            </a:r>
          </a:p>
          <a:p xmlns:a="http://schemas.openxmlformats.org/drawingml/2006/main">
            <a:r>
              <a:t>modules/timetable/README.md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主讲时间 3:55–4:20，约25秒。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安排也可以带回常用日历。当前版本分别导出本学期课程和近四周作业：课程保留时间地点，作业标出提交平台和截止。手机网页则按天显示安排。这里展示的是刚刚重新截取的手机尺寸网页，日历通过文件导入，后续更新需要重新导出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操作提示：左侧讲两种导出范围，右侧是390像素宽的响应式网页截图。不要称为Android APK画面或自动云同步。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当前运行分支 modules/timetable/README.md 的 homework.ics 与 courses.ics</a:t>
            </a:r>
          </a:p>
          <a:p xmlns:a="http://schemas.openxmlformats.org/drawingml/2006/main">
            <a:r>
              <a:t>本次重新截图 fresh-mobile-timetable.png</a:t>
            </a:r>
          </a:p>
          <a:p xmlns:a="http://schemas.openxmlformats.org/drawingml/2006/main">
            <a:r>
              <a:t>本次重新截图 fresh-calendar-export.png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隐藏答辩备页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评委追问资料整合和选课扩展时使用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本次重新截图 fresh-courses.png</a:t>
            </a:r>
          </a:p>
          <a:p xmlns:a="http://schemas.openxmlformats.org/drawingml/2006/main">
            <a:r>
              <a:t>modules/courses/README.md</a:t>
            </a:r>
          </a:p>
          <a:p xmlns:a="http://schemas.openxmlformats.org/drawingml/2006/main">
            <a:r>
              <a:t>modules/academic-assistant/README.md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隐藏答辩备页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评委追问地图、微信或QQ时使用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本次查看群消息时为0个已选群、QQ未连接，未用空接入页或旧合成图片冒充真实群处理结果。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modules/campus-map/README.md</a:t>
            </a:r>
          </a:p>
          <a:p xmlns:a="http://schemas.openxmlformats.org/drawingml/2006/main">
            <a:r>
              <a:t>modules/group-messages/README.md</a:t>
            </a:r>
          </a:p>
          <a:p xmlns:a="http://schemas.openxmlformats.org/drawingml/2006/main">
            <a:r>
              <a:t>本次重新截图 fresh-map.png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隐藏答辩备页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评委追问通知价值时使用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截图只展示校园公开讲座通知，未使用私人往来邮件。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modules/mail/README.md</a:t>
            </a:r>
          </a:p>
          <a:p xmlns:a="http://schemas.openxmlformats.org/drawingml/2006/main">
            <a:r>
              <a:t>本次重新截图 fresh-mail.png，校园讲座通知与分类依据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建议讲述约25秒。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接下来，我们准备补齐三类功能。第一，综合 Blackboard、课堂录播和微信、QQ 群消息，整理 Quiz、签到与考试提醒。第二，结合老师讲授内容和 PPT 进度，总结 Quiz 范围及复习要点。第三，扩展首页 AI 助手的工作台管理权限，在用户授权后按个人偏好自动调整配置。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以上均为待加入的功能，不作为已完成能力展示。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资料依据：用户提供的 10.18.txt 中“待补充功能”段落。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主讲时间 4:20–4:45，约25秒。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我们想让一条学习安排有三个清楚的答案：事情是什么，依据在哪里，下一步怎么做。campusMate 已经把这条路径接起来。接下来，我们会继续做真实课程群验收、手机真机测试和校内试用，检查它在同学每天的学习中是否真的有用。谢谢大家。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操作提示：最后展示完整成员名单，4分45秒结束，保留15秒缓冲。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项目 README.md 与既有验收记录</a:t>
            </a:r>
          </a:p>
          <a:p xmlns:a="http://schemas.openxmlformats.org/drawingml/2006/main">
            <a:r>
              <a:t>团队名单来自参考材料</a:t>
            </a:r>
          </a:p>
          <a:p xmlns:a="http://schemas.openxmlformats.org/drawingml/2006/main">
            <a:r>
              <a:t>用户提供的 Study smarter / Panic more efficiently 彩蛋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隐藏答辩备页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评委追问完成度和手机能力时使用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未将a1fdab3的旧检查数量归给当前运行分支；Android截图未出现在主讲页。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docs/LIVE_ACCEPTANCE.md 的历史来源验收</a:t>
            </a:r>
          </a:p>
          <a:p xmlns:a="http://schemas.openxmlformats.org/drawingml/2006/main">
            <a:r>
              <a:t>本次读取的实际运行界面</a:t>
            </a:r>
          </a:p>
          <a:p xmlns:a="http://schemas.openxmlformats.org/drawingml/2006/main">
            <a:r>
              <a:t>campus-android/README.md</a:t>
            </a:r>
          </a:p>
          <a:p xmlns:a="http://schemas.openxmlformats.org/drawingml/2006/main">
            <a:r>
              <a:t>modules/group-messages/README.md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隐藏答辩备页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评委追问原创性、架构或开源复用时使用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路演内容以参考材料提取的信息、项目文档和本次真实截图重写。旧PPT中的任何页面或功能图片均未嵌入新版。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docs/MODULES.md</a:t>
            </a:r>
          </a:p>
          <a:p xmlns:a="http://schemas.openxmlformats.org/drawingml/2006/main">
            <a:r>
              <a:t>docs/AI.md</a:t>
            </a:r>
          </a:p>
          <a:p xmlns:a="http://schemas.openxmlformats.org/drawingml/2006/main">
            <a:r>
              <a:t>modules/group-messages/README.md</a:t>
            </a:r>
          </a:p>
          <a:p xmlns:a="http://schemas.openxmlformats.org/drawingml/2006/main">
            <a:r>
              <a:t>modules/campus-map/README.md</a:t>
            </a:r>
          </a:p>
          <a:p xmlns:a="http://schemas.openxmlformats.org/drawingml/2006/main">
            <a:r>
              <a:t>campusMate参赛第三方引用与原创声明.docx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e12ad556043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3dc3908ba4c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50308127346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f106dc3994f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33eadf45142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df7529ebf4f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D7121A-D454-4B6C-A693-617A9C821C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44A791-47CD-4906-A3F3-8C5A9D2E3D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BC9E23-904D-4435-B6FE-46C52856C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2251A2-56E2-4698-A655-03158A369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1DB9EA-A8BC-4701-B51B-1A5FA9544F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BBD3B2-8DAB-46BB-BF66-F03FE0B3BC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26A57C-D62B-46FA-AA01-381F54B9D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C4FE95-8103-494F-89B5-BDE4EA7498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CBC9BB-3C50-4427-9005-F49202267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20C659-BFC0-41C1-8EBB-F88475A715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f00e4e65f42f3" /><Relationship Type="http://schemas.openxmlformats.org/officeDocument/2006/relationships/slideLayout" Target="/ppt/slideLayouts/slideLayout1.xml" Id="Rc4e4f54c1fdb480c" /><Relationship Type="http://schemas.openxmlformats.org/officeDocument/2006/relationships/slideLayout" Target="/ppt/slideLayouts/slideLayout2.xml" Id="R8297ca54b49b4693" /><Relationship Type="http://schemas.openxmlformats.org/officeDocument/2006/relationships/slideLayout" Target="/ppt/slideLayouts/slideLayout3.xml" Id="R0e886f9813e14d71" /><Relationship Type="http://schemas.openxmlformats.org/officeDocument/2006/relationships/slideLayout" Target="/ppt/slideLayouts/slideLayout4.xml" Id="R056d2cb2b20c4c1c" /><Relationship Type="http://schemas.openxmlformats.org/officeDocument/2006/relationships/slideLayout" Target="/ppt/slideLayouts/slideLayout5.xml" Id="Re83fe122541048cf" /><Relationship Type="http://schemas.openxmlformats.org/officeDocument/2006/relationships/slideLayout" Target="/ppt/slideLayouts/slideLayout6.xml" Id="R0f77dbc22ef7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e4f54c1fdb480c"/>
    <p:sldLayoutId xmlns:r="http://schemas.openxmlformats.org/officeDocument/2006/relationships" id="2147483650" r:id="R8297ca54b49b4693"/>
    <p:sldLayoutId xmlns:r="http://schemas.openxmlformats.org/officeDocument/2006/relationships" id="2147483651" r:id="R0e886f9813e14d71"/>
    <p:sldLayoutId xmlns:r="http://schemas.openxmlformats.org/officeDocument/2006/relationships" id="2147483652" r:id="R056d2cb2b20c4c1c"/>
    <p:sldLayoutId xmlns:r="http://schemas.openxmlformats.org/officeDocument/2006/relationships" id="2147483653" r:id="Re83fe122541048cf"/>
    <p:sldLayoutId xmlns:r="http://schemas.openxmlformats.org/officeDocument/2006/relationships" id="2147483654" r:id="R0f77dbc22ef7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ampusMate">
      <a:dk1>
        <a:srgbClr val="000000"/>
      </a:dk1>
      <a:lt1>
        <a:srgbClr val="FFFFFF"/>
      </a:lt1>
      <a:dk2>
        <a:srgbClr val="202C40"/>
      </a:dk2>
      <a:lt2>
        <a:srgbClr val="F5F7FB"/>
      </a:lt2>
      <a:accent1>
        <a:srgbClr val="596CE8"/>
      </a:accent1>
      <a:accent2>
        <a:srgbClr val="ABE5D6"/>
      </a:accent2>
      <a:accent3>
        <a:srgbClr val="CAD5E8"/>
      </a:accent3>
      <a:accent4>
        <a:srgbClr val="E9C16F"/>
      </a:accent4>
      <a:accent5>
        <a:srgbClr val="667B98"/>
      </a:accent5>
      <a:accent6>
        <a:srgbClr val="BFD8E6"/>
      </a:accent6>
      <a:hlink>
        <a:srgbClr val="596CE8"/>
      </a:hlink>
      <a:folHlink>
        <a:srgbClr val="775ACB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ampusM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812175f6f43f6" /><Relationship Type="http://schemas.openxmlformats.org/officeDocument/2006/relationships/image" Target="/ppt/media/image.png" Id="Rd46520b463cf425a" /><Relationship Type="http://schemas.openxmlformats.org/officeDocument/2006/relationships/notesSlide" Target="/ppt/notesSlides/notesSlide1.xml" Id="Rcdcc7eef65b4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798a86eb24e28" /><Relationship Type="http://schemas.openxmlformats.org/officeDocument/2006/relationships/notesSlide" Target="/ppt/notesSlides/notesSlide2.xml" Id="R7a93c6999e2e4f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c65bd531a475f" /><Relationship Type="http://schemas.openxmlformats.org/officeDocument/2006/relationships/image" Target="/ppt/media/image.jpeg" Id="R39d91d4bfe6843fc" /><Relationship Type="http://schemas.openxmlformats.org/officeDocument/2006/relationships/notesSlide" Target="/ppt/notesSlides/notesSlide3.xml" Id="Rbd56b932400948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daaf51b2a4dfb" /><Relationship Type="http://schemas.openxmlformats.org/officeDocument/2006/relationships/image" Target="/ppt/media/image2.jpeg" Id="Rf607f2cbf5e14fad" /><Relationship Type="http://schemas.openxmlformats.org/officeDocument/2006/relationships/notesSlide" Target="/ppt/notesSlides/notesSlide4.xml" Id="R5828ee926bf3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650af25754dd7" /><Relationship Type="http://schemas.openxmlformats.org/officeDocument/2006/relationships/notesSlide" Target="/ppt/notesSlides/notesSlide5.xml" Id="R48ac39a16eef4e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e889725984c2b" /><Relationship Type="http://schemas.openxmlformats.org/officeDocument/2006/relationships/image" Target="/ppt/media/image3.jpeg" Id="R49b31d57b15b4e1d" /><Relationship Type="http://schemas.openxmlformats.org/officeDocument/2006/relationships/notesSlide" Target="/ppt/notesSlides/notesSlide6.xml" Id="R108b21a48aa247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b170806254539" /><Relationship Type="http://schemas.openxmlformats.org/officeDocument/2006/relationships/image" Target="/ppt/media/image4.jpeg" Id="Rb73a108600754022" /><Relationship Type="http://schemas.openxmlformats.org/officeDocument/2006/relationships/notesSlide" Target="/ppt/notesSlides/notesSlide7.xml" Id="R7dd2ec769da64e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df096fdfb46b3" /><Relationship Type="http://schemas.openxmlformats.org/officeDocument/2006/relationships/image" Target="/ppt/media/image5.jpeg" Id="R7a768ff3cdfc42ed" /><Relationship Type="http://schemas.openxmlformats.org/officeDocument/2006/relationships/notesSlide" Target="/ppt/notesSlides/notesSlide8.xml" Id="R192f700d0fc049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dded5cd224e45" /><Relationship Type="http://schemas.openxmlformats.org/officeDocument/2006/relationships/image" Target="/ppt/media/image6.jpeg" Id="Rd0d4b5ecee8a4fd1" /><Relationship Type="http://schemas.openxmlformats.org/officeDocument/2006/relationships/notesSlide" Target="/ppt/notesSlides/notesSlide9.xml" Id="R0114203ea59041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a40512bbf4946" /><Relationship Type="http://schemas.openxmlformats.org/officeDocument/2006/relationships/notesSlide" Target="/ppt/notesSlides/notesSlide10.xml" Id="R141395ed643e45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b5376f04f4f7a" /><Relationship Type="http://schemas.openxmlformats.org/officeDocument/2006/relationships/notesSlide" Target="/ppt/notesSlides/notesSlide11.xml" Id="R9318f9d1c31847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c7fe3ab8e4310" /><Relationship Type="http://schemas.openxmlformats.org/officeDocument/2006/relationships/notesSlide" Target="/ppt/notesSlides/notesSlide12.xml" Id="R7c0356ae6ea64f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68c8910774bc2" /><Relationship Type="http://schemas.openxmlformats.org/officeDocument/2006/relationships/notesSlide" Target="/ppt/notesSlides/notesSlide13.xml" Id="R6747f822639943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label">
            <a:extLst xmlns:a="http://schemas.openxmlformats.org/drawingml/2006/main">
              <a:ext uri="{FF2B5EF4-FFF2-40B4-BE49-F238E27FC236}">
                <a16:creationId xmlns:a16="http://schemas.microsoft.com/office/drawing/2014/main" id="{F3BC1541-0B30-49CA-A34A-7E84516B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01 / 11</a:t>
            </a:r>
          </a:p>
        </p:txBody>
      </p:sp>
      <p:sp>
        <p:nvSpPr>
          <p:cNvPr id="2" name="campusMate">
            <a:extLst xmlns:a="http://schemas.openxmlformats.org/drawingml/2006/main">
              <a:ext uri="{FF2B5EF4-FFF2-40B4-BE49-F238E27FC236}">
                <a16:creationId xmlns:a16="http://schemas.microsoft.com/office/drawing/2014/main" id="{7AD7A1F4-79BC-43FD-96C1-CA74E02D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852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campusMate</a:t>
            </a:r>
          </a:p>
        </p:txBody>
      </p:sp>
      <p:sp>
        <p:nvSpPr>
          <p:cNvPr id="3" name="把散落的校园信息&#10;整理成下一步安排">
            <a:extLst xmlns:a="http://schemas.openxmlformats.org/drawingml/2006/main">
              <a:ext uri="{FF2B5EF4-FFF2-40B4-BE49-F238E27FC236}">
                <a16:creationId xmlns:a16="http://schemas.microsoft.com/office/drawing/2014/main" id="{9F9F2CE7-83A2-431E-BF0B-84232A1F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8001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把散落的校园信息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整理成下一步安排</a:t>
            </a: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83CC6F4E-22BB-4E34-ABAB-EC531D5FE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520b463cf425a"/>
          <a:stretch xmlns:a="http://schemas.openxmlformats.org/drawingml/2006/main"/>
        </p:blipFill>
        <p:spPr>
          <a:xfrm xmlns:a="http://schemas.openxmlformats.org/drawingml/2006/main">
            <a:off x="9172575" y="1028700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5" name="Powered by AI. Fueled by">
            <a:extLst xmlns:a="http://schemas.openxmlformats.org/drawingml/2006/main">
              <a:ext uri="{FF2B5EF4-FFF2-40B4-BE49-F238E27FC236}">
                <a16:creationId xmlns:a16="http://schemas.microsoft.com/office/drawing/2014/main" id="{CE3DB626-9D3D-4EA5-907E-EFEBC09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Powered by AI. Fueled by deadlines.</a:t>
            </a:r>
          </a:p>
        </p:txBody>
      </p:sp>
      <p:sp>
        <p:nvSpPr>
          <p:cNvPr id="6" name="AI 驱动，DDL 供能。">
            <a:extLst xmlns:a="http://schemas.openxmlformats.org/drawingml/2006/main">
              <a:ext uri="{FF2B5EF4-FFF2-40B4-BE49-F238E27FC236}">
                <a16:creationId xmlns:a16="http://schemas.microsoft.com/office/drawing/2014/main" id="{0EF68DC8-CFD2-451A-8B0B-944BFBAD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AI 驱动，DDL 供能。</a:t>
            </a:r>
          </a:p>
        </p:txBody>
      </p:sp>
      <p:sp>
        <p:nvSpPr>
          <p:cNvPr id="7" name="AAA罗德岛工程部    上海科技大学 Tech">
            <a:extLst xmlns:a="http://schemas.openxmlformats.org/drawingml/2006/main">
              <a:ext uri="{FF2B5EF4-FFF2-40B4-BE49-F238E27FC236}">
                <a16:creationId xmlns:a16="http://schemas.microsoft.com/office/drawing/2014/main" id="{0A067B5A-6723-42DA-990A-7606BB46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AAA罗德岛工程部    上海科技大学 Techathon</a:t>
            </a:r>
          </a:p>
        </p:txBody>
      </p:sp>
    </p:spTree>
    <p:extLst>
      <p:ext uri="{BB962C8B-B14F-4D97-AF65-F5344CB8AC3E}">
        <p14:creationId xmlns:p14="http://schemas.microsoft.com/office/powerpoint/2010/main" val="166695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8C9345-94DE-4320-8898-9C309BDD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周日晚上，三个问题挤在一起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BE9ED7FD-AB6B-47B9-9A86-93744218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02 / 11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32862D2-4F99-4B3E-A8B2-830055B1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快到期的作业，先交哪一份？">
            <a:extLst xmlns:a="http://schemas.openxmlformats.org/drawingml/2006/main">
              <a:ext uri="{FF2B5EF4-FFF2-40B4-BE49-F238E27FC236}">
                <a16:creationId xmlns:a16="http://schemas.microsoft.com/office/drawing/2014/main" id="{BC7CBBD3-6E66-44BA-B209-1F00153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57350"/>
            <a:ext cx="9982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快到期的作业，先交哪一份？</a:t>
            </a:r>
          </a:p>
        </p:txBody>
      </p:sp>
      <p:sp>
        <p:nvSpPr>
          <p:cNvPr id="5" name="截止与提交状态">
            <a:extLst xmlns:a="http://schemas.openxmlformats.org/drawingml/2006/main">
              <a:ext uri="{FF2B5EF4-FFF2-40B4-BE49-F238E27FC236}">
                <a16:creationId xmlns:a16="http://schemas.microsoft.com/office/drawing/2014/main" id="{810CA6D1-A507-4FF6-91DD-634CC60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76475"/>
            <a:ext cx="985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截止与提交状态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8F495208-AAA6-450E-827E-53C9533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邮箱里的讲座，和我有关系吗？">
            <a:extLst xmlns:a="http://schemas.openxmlformats.org/drawingml/2006/main">
              <a:ext uri="{FF2B5EF4-FFF2-40B4-BE49-F238E27FC236}">
                <a16:creationId xmlns:a16="http://schemas.microsoft.com/office/drawing/2014/main" id="{71960A84-CBB2-47EB-8AD2-72E0945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52750"/>
            <a:ext cx="9982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邮箱里的讲座，和我有关系吗？</a:t>
            </a:r>
          </a:p>
        </p:txBody>
      </p:sp>
      <p:sp>
        <p:nvSpPr>
          <p:cNvPr id="8" name="课程要求与个人偏好">
            <a:extLst xmlns:a="http://schemas.openxmlformats.org/drawingml/2006/main">
              <a:ext uri="{FF2B5EF4-FFF2-40B4-BE49-F238E27FC236}">
                <a16:creationId xmlns:a16="http://schemas.microsoft.com/office/drawing/2014/main" id="{D46A0AB2-EEB3-4589-BDE9-CED7837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571875"/>
            <a:ext cx="985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课程要求与个人偏好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F380D06B-1820-4E60-9D2A-0D40EC8C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开始复习之前，资料从哪里找？">
            <a:extLst xmlns:a="http://schemas.openxmlformats.org/drawingml/2006/main">
              <a:ext uri="{FF2B5EF4-FFF2-40B4-BE49-F238E27FC236}">
                <a16:creationId xmlns:a16="http://schemas.microsoft.com/office/drawing/2014/main" id="{8638275B-A176-45E7-9A25-2A637155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48150"/>
            <a:ext cx="9982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开始复习之前，资料从哪里找？</a:t>
            </a:r>
          </a:p>
        </p:txBody>
      </p:sp>
      <p:sp>
        <p:nvSpPr>
          <p:cNvPr id="11" name="课件、录播与原文依据">
            <a:extLst xmlns:a="http://schemas.openxmlformats.org/drawingml/2006/main">
              <a:ext uri="{FF2B5EF4-FFF2-40B4-BE49-F238E27FC236}">
                <a16:creationId xmlns:a16="http://schemas.microsoft.com/office/drawing/2014/main" id="{F7CC247F-E56C-4787-8AA3-5D90103B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67275"/>
            <a:ext cx="985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课件、录播与原文依据</a:t>
            </a:r>
          </a:p>
        </p:txBody>
      </p:sp>
      <p:sp>
        <p:nvSpPr>
          <p:cNvPr id="12" name="宇宙正在膨胀，你的待办清单也不甘示弱。">
            <a:extLst xmlns:a="http://schemas.openxmlformats.org/drawingml/2006/main">
              <a:ext uri="{FF2B5EF4-FFF2-40B4-BE49-F238E27FC236}">
                <a16:creationId xmlns:a16="http://schemas.microsoft.com/office/drawing/2014/main" id="{325E89E7-2EE0-4678-A74F-92C37BD1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340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宇宙正在膨胀，你的待办清单也不甘示弱。</a:t>
            </a:r>
          </a:p>
        </p:txBody>
      </p:sp>
    </p:spTree>
    <p:extLst>
      <p:ext uri="{BB962C8B-B14F-4D97-AF65-F5344CB8AC3E}">
        <p14:creationId xmlns:p14="http://schemas.microsoft.com/office/powerpoint/2010/main" val="1901057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6A28CE-4C4A-47CD-9B39-8503B69A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先弄清今晚要交什么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C439A661-6D7E-4004-BDF6-D687C77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03 / 11</a:t>
            </a:r>
          </a:p>
        </p:txBody>
      </p:sp>
      <p:sp>
        <p:nvSpPr>
          <p:cNvPr id="3" name="当前画面：24 小时内有两项待完成作业">
            <a:extLst xmlns:a="http://schemas.openxmlformats.org/drawingml/2006/main">
              <a:ext uri="{FF2B5EF4-FFF2-40B4-BE49-F238E27FC236}">
                <a16:creationId xmlns:a16="http://schemas.microsoft.com/office/drawing/2014/main" id="{E7D48113-74DB-4B55-9956-9B3F8A3A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当前画面：24 小时内有两项待完成作业</a:t>
            </a: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775D32F0-7253-414F-8328-3F906B010C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91d4bfe6843fc"/>
          <a:srcRect xmlns:a="http://schemas.openxmlformats.org/drawingml/2006/main" l="19922" t="38194" r="4297" b="13194"/>
          <a:stretch xmlns:a="http://schemas.openxmlformats.org/drawingml/2006/main"/>
        </p:blipFill>
        <p:spPr>
          <a:xfrm xmlns:a="http://schemas.openxmlformats.org/drawingml/2006/main">
            <a:off x="609600" y="2352675"/>
            <a:ext cx="8382000" cy="3028950"/>
          </a:xfrm>
          <a:prstGeom xmlns:a="http://schemas.openxmlformats.org/drawingml/2006/main" prst="rect">
            <a:avLst/>
          </a:prstGeom>
        </p:spPr>
      </p:pic>
      <p:sp>
        <p:nvSpPr>
          <p:cNvPr id="5" name="按来源核对状态，再进入学习计划">
            <a:extLst xmlns:a="http://schemas.openxmlformats.org/drawingml/2006/main">
              <a:ext uri="{FF2B5EF4-FFF2-40B4-BE49-F238E27FC236}">
                <a16:creationId xmlns:a16="http://schemas.microsoft.com/office/drawing/2014/main" id="{2AA1215B-16CF-4E87-8DD4-D55C7A9B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按来源核对状态，再进入学习计划</a:t>
            </a:r>
          </a:p>
        </p:txBody>
      </p:sp>
      <p:sp>
        <p:nvSpPr>
          <p:cNvPr id="6" name="截止">
            <a:extLst xmlns:a="http://schemas.openxmlformats.org/drawingml/2006/main">
              <a:ext uri="{FF2B5EF4-FFF2-40B4-BE49-F238E27FC236}">
                <a16:creationId xmlns:a16="http://schemas.microsoft.com/office/drawing/2014/main" id="{B0285B9E-B03A-4246-95D8-6278C6F1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479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截止</a:t>
            </a:r>
          </a:p>
        </p:txBody>
      </p:sp>
      <p:sp>
        <p:nvSpPr>
          <p:cNvPr id="7" name="先核对时间">
            <a:extLst xmlns:a="http://schemas.openxmlformats.org/drawingml/2006/main">
              <a:ext uri="{FF2B5EF4-FFF2-40B4-BE49-F238E27FC236}">
                <a16:creationId xmlns:a16="http://schemas.microsoft.com/office/drawing/2014/main" id="{78B22682-BC02-4DC0-B9C8-17847358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527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先核对时间</a:t>
            </a:r>
          </a:p>
        </p:txBody>
      </p:sp>
      <p:sp>
        <p:nvSpPr>
          <p:cNvPr id="8" name="状态">
            <a:extLst xmlns:a="http://schemas.openxmlformats.org/drawingml/2006/main">
              <a:ext uri="{FF2B5EF4-FFF2-40B4-BE49-F238E27FC236}">
                <a16:creationId xmlns:a16="http://schemas.microsoft.com/office/drawing/2014/main" id="{29682949-B320-483C-A5F9-4369E91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9" name="确认提交证据">
            <a:extLst xmlns:a="http://schemas.openxmlformats.org/drawingml/2006/main">
              <a:ext uri="{FF2B5EF4-FFF2-40B4-BE49-F238E27FC236}">
                <a16:creationId xmlns:a16="http://schemas.microsoft.com/office/drawing/2014/main" id="{FEC7A2CB-9DC7-43D8-99F8-41F8DAE2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338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确认提交证据</a:t>
            </a:r>
          </a:p>
        </p:txBody>
      </p:sp>
      <p:sp>
        <p:nvSpPr>
          <p:cNvPr id="10" name="来源">
            <a:extLst xmlns:a="http://schemas.openxmlformats.org/drawingml/2006/main">
              <a:ext uri="{FF2B5EF4-FFF2-40B4-BE49-F238E27FC236}">
                <a16:creationId xmlns:a16="http://schemas.microsoft.com/office/drawing/2014/main" id="{D965E136-F468-4529-9980-7BDBE2D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101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保留原站入口">
            <a:extLst xmlns:a="http://schemas.openxmlformats.org/drawingml/2006/main">
              <a:ext uri="{FF2B5EF4-FFF2-40B4-BE49-F238E27FC236}">
                <a16:creationId xmlns:a16="http://schemas.microsoft.com/office/drawing/2014/main" id="{E1D51F48-D6A2-4EF7-9FA9-F73A248E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1149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保留原站入口</a:t>
            </a:r>
          </a:p>
        </p:txBody>
      </p:sp>
      <p:sp>
        <p:nvSpPr>
          <p:cNvPr id="12" name="实际运行截图 · 2026-10-18；数量与状">
            <a:extLst xmlns:a="http://schemas.openxmlformats.org/drawingml/2006/main">
              <a:ext uri="{FF2B5EF4-FFF2-40B4-BE49-F238E27FC236}">
                <a16:creationId xmlns:a16="http://schemas.microsoft.com/office/drawing/2014/main" id="{7B788B94-5712-479D-A606-CD84FB1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实际运行截图 · 2026-10-18；数量与状态以演示当天为准</a:t>
            </a:r>
          </a:p>
        </p:txBody>
      </p:sp>
    </p:spTree>
    <p:extLst>
      <p:ext uri="{BB962C8B-B14F-4D97-AF65-F5344CB8AC3E}">
        <p14:creationId xmlns:p14="http://schemas.microsoft.com/office/powerpoint/2010/main" val="1153366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CF4495-458D-4871-8B88-E1CF1EB1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这份计划，为什么这样排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C98C0112-198F-45C3-AFFA-C0ECA88F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04 / 11</a:t>
            </a:r>
          </a:p>
        </p:txBody>
      </p:sp>
      <p:sp>
        <p:nvSpPr>
          <p:cNvPr id="3" name="现场演示 75 秒">
            <a:extLst xmlns:a="http://schemas.openxmlformats.org/drawingml/2006/main">
              <a:ext uri="{FF2B5EF4-FFF2-40B4-BE49-F238E27FC236}">
                <a16:creationId xmlns:a16="http://schemas.microsoft.com/office/drawing/2014/main" id="{416F73FC-C941-4235-BBD7-5AC951A2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现场演示 75 秒</a:t>
            </a: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6460DE8D-F2CB-4300-AA17-495C9135A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7f2cbf5e14fad"/>
          <a:srcRect xmlns:a="http://schemas.openxmlformats.org/drawingml/2006/main" l="26563" t="15278" r="10938" b="29861"/>
          <a:stretch xmlns:a="http://schemas.openxmlformats.org/drawingml/2006/main"/>
        </p:blipFill>
        <p:spPr>
          <a:xfrm xmlns:a="http://schemas.openxmlformats.org/drawingml/2006/main">
            <a:off x="609600" y="1905000"/>
            <a:ext cx="8477250" cy="4181475"/>
          </a:xfrm>
          <a:prstGeom xmlns:a="http://schemas.openxmlformats.org/drawingml/2006/main" prst="rect">
            <a:avLst/>
          </a:prstGeom>
        </p:spPr>
      </p:pic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DFC07AB-B587-4107-96FE-56AC81B1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64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核对作业">
            <a:extLst xmlns:a="http://schemas.openxmlformats.org/drawingml/2006/main">
              <a:ext uri="{FF2B5EF4-FFF2-40B4-BE49-F238E27FC236}">
                <a16:creationId xmlns:a16="http://schemas.microsoft.com/office/drawing/2014/main" id="{3E195429-6E85-405A-8A60-BE6A2DE5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核对作业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FEA2B79F-3139-492C-BBDC-B8C30EA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打开已有计划">
            <a:extLst xmlns:a="http://schemas.openxmlformats.org/drawingml/2006/main">
              <a:ext uri="{FF2B5EF4-FFF2-40B4-BE49-F238E27FC236}">
                <a16:creationId xmlns:a16="http://schemas.microsoft.com/office/drawing/2014/main" id="{8BA9A07B-DBB5-43DF-B6B1-E5BDF5CB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909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打开已有计划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0D63AFB4-E728-4EE3-A75F-22D41274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433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展开参考资料">
            <a:extLst xmlns:a="http://schemas.openxmlformats.org/drawingml/2006/main">
              <a:ext uri="{FF2B5EF4-FFF2-40B4-BE49-F238E27FC236}">
                <a16:creationId xmlns:a16="http://schemas.microsoft.com/office/drawing/2014/main" id="{11ECC1C5-B949-4680-B491-3D154FF3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2435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展开参考资料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C340E1C7-8674-487A-B29D-B4CF2D14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查看时间表">
            <a:extLst xmlns:a="http://schemas.openxmlformats.org/drawingml/2006/main">
              <a:ext uri="{FF2B5EF4-FFF2-40B4-BE49-F238E27FC236}">
                <a16:creationId xmlns:a16="http://schemas.microsoft.com/office/drawing/2014/main" id="{DD9FA143-142E-499C-957B-1C9902F0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578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查看时间表</a:t>
            </a:r>
          </a:p>
        </p:txBody>
      </p:sp>
      <p:sp>
        <p:nvSpPr>
          <p:cNvPr id="13" name="实际运行截图 · 已有回答，只读演示；当前建议尚">
            <a:extLst xmlns:a="http://schemas.openxmlformats.org/drawingml/2006/main">
              <a:ext uri="{FF2B5EF4-FFF2-40B4-BE49-F238E27FC236}">
                <a16:creationId xmlns:a16="http://schemas.microsoft.com/office/drawing/2014/main" id="{C23B12FC-F23B-416F-B044-26AC2522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实际运行截图 · 已有回答，只读演示；当前建议尚未保存为新安排</a:t>
            </a:r>
          </a:p>
        </p:txBody>
      </p:sp>
    </p:spTree>
    <p:extLst>
      <p:ext uri="{BB962C8B-B14F-4D97-AF65-F5344CB8AC3E}">
        <p14:creationId xmlns:p14="http://schemas.microsoft.com/office/powerpoint/2010/main" val="1454239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C2E55-DDDD-48BB-82F9-1916F9E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的每一步，都有业务校验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8AACDBE2-0CDB-40E1-988D-1A279472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05 / 11</a:t>
            </a:r>
          </a:p>
        </p:txBody>
      </p:sp>
      <p:sp>
        <p:nvSpPr>
          <p:cNvPr id="3" name="取资料">
            <a:extLst xmlns:a="http://schemas.openxmlformats.org/drawingml/2006/main">
              <a:ext uri="{FF2B5EF4-FFF2-40B4-BE49-F238E27FC236}">
                <a16:creationId xmlns:a16="http://schemas.microsoft.com/office/drawing/2014/main" id="{A616430F-B27F-437F-A2A2-CC4D3D8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取资料</a:t>
            </a:r>
          </a:p>
        </p:txBody>
      </p:sp>
      <p:sp>
        <p:nvSpPr>
          <p:cNvPr id="4" name="校园工具按需读取">
            <a:extLst xmlns:a="http://schemas.openxmlformats.org/drawingml/2006/main">
              <a:ext uri="{FF2B5EF4-FFF2-40B4-BE49-F238E27FC236}">
                <a16:creationId xmlns:a16="http://schemas.microsoft.com/office/drawing/2014/main" id="{DD545651-30EC-4CFD-97A6-1C5128E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校园工具按需读取</a:t>
            </a:r>
          </a:p>
        </p:txBody>
      </p:sp>
      <p:sp>
        <p:nvSpPr>
          <p:cNvPr id="5" name="19 个模块通过公开 API 协作">
            <a:extLst xmlns:a="http://schemas.openxmlformats.org/drawingml/2006/main">
              <a:ext uri="{FF2B5EF4-FFF2-40B4-BE49-F238E27FC236}">
                <a16:creationId xmlns:a16="http://schemas.microsoft.com/office/drawing/2014/main" id="{489D5E5F-3DD4-4E23-B634-012FB6F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865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19 个模块通过公开 API 协作</a:t>
            </a:r>
          </a:p>
        </p:txBody>
      </p:sp>
      <p:sp>
        <p:nvSpPr>
          <p:cNvPr id="6" name="核对依据">
            <a:extLst xmlns:a="http://schemas.openxmlformats.org/drawingml/2006/main">
              <a:ext uri="{FF2B5EF4-FFF2-40B4-BE49-F238E27FC236}">
                <a16:creationId xmlns:a16="http://schemas.microsoft.com/office/drawing/2014/main" id="{3BF09B6A-655C-4F8B-8217-42AB2458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核对依据</a:t>
            </a:r>
          </a:p>
        </p:txBody>
      </p:sp>
      <p:sp>
        <p:nvSpPr>
          <p:cNvPr id="7" name="原文与本轮来源对应">
            <a:extLst xmlns:a="http://schemas.openxmlformats.org/drawingml/2006/main">
              <a:ext uri="{FF2B5EF4-FFF2-40B4-BE49-F238E27FC236}">
                <a16:creationId xmlns:a16="http://schemas.microsoft.com/office/drawing/2014/main" id="{4E33ED3E-52D2-41AB-87CE-816F8373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原文与本轮来源对应</a:t>
            </a:r>
          </a:p>
        </p:txBody>
      </p:sp>
      <p:sp>
        <p:nvSpPr>
          <p:cNvPr id="8" name="缺资料时保留缺口，推理仍需判断">
            <a:extLst xmlns:a="http://schemas.openxmlformats.org/drawingml/2006/main">
              <a:ext uri="{FF2B5EF4-FFF2-40B4-BE49-F238E27FC236}">
                <a16:creationId xmlns:a16="http://schemas.microsoft.com/office/drawing/2014/main" id="{29619FF4-FEAD-499D-A716-3E97BFD7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57600"/>
            <a:ext cx="865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缺资料时保留缺口，推理仍需判断</a:t>
            </a:r>
          </a:p>
        </p:txBody>
      </p:sp>
      <p:sp>
        <p:nvSpPr>
          <p:cNvPr id="9" name="执行操作">
            <a:extLst xmlns:a="http://schemas.openxmlformats.org/drawingml/2006/main">
              <a:ext uri="{FF2B5EF4-FFF2-40B4-BE49-F238E27FC236}">
                <a16:creationId xmlns:a16="http://schemas.microsoft.com/office/drawing/2014/main" id="{69907FDC-8B37-4B70-82E5-A96179C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执行操作</a:t>
            </a:r>
          </a:p>
        </p:txBody>
      </p:sp>
      <p:sp>
        <p:nvSpPr>
          <p:cNvPr id="10" name="明确意愿、版本检查、实际回执">
            <a:extLst xmlns:a="http://schemas.openxmlformats.org/drawingml/2006/main">
              <a:ext uri="{FF2B5EF4-FFF2-40B4-BE49-F238E27FC236}">
                <a16:creationId xmlns:a16="http://schemas.microsoft.com/office/drawing/2014/main" id="{D2ABC83C-E959-412A-A45B-2D5DF896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明确意愿、版本检查、实际回执</a:t>
            </a:r>
          </a:p>
        </p:txBody>
      </p:sp>
      <p:sp>
        <p:nvSpPr>
          <p:cNvPr id="11" name="修改只在授权的本地业务范围内进行">
            <a:extLst xmlns:a="http://schemas.openxmlformats.org/drawingml/2006/main">
              <a:ext uri="{FF2B5EF4-FFF2-40B4-BE49-F238E27FC236}">
                <a16:creationId xmlns:a16="http://schemas.microsoft.com/office/drawing/2014/main" id="{A88B42C0-2561-4065-BEC1-BC673AC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72050"/>
            <a:ext cx="865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修改只在授权的本地业务范围内进行</a:t>
            </a:r>
          </a:p>
        </p:txBody>
      </p:sp>
      <p:sp>
        <p:nvSpPr>
          <p:cNvPr id="12" name="团队实现校园工具与业务校验；官方 DeepSee">
            <a:extLst xmlns:a="http://schemas.openxmlformats.org/drawingml/2006/main">
              <a:ext uri="{FF2B5EF4-FFF2-40B4-BE49-F238E27FC236}">
                <a16:creationId xmlns:a16="http://schemas.microsoft.com/office/drawing/2014/main" id="{7DC43AB3-7467-4594-9F83-7E3988EC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团队实现校园工具与业务校验；官方 DeepSeek Harness 提供原生插件运行时</a:t>
            </a:r>
          </a:p>
        </p:txBody>
      </p:sp>
    </p:spTree>
    <p:extLst>
      <p:ext uri="{BB962C8B-B14F-4D97-AF65-F5344CB8AC3E}">
        <p14:creationId xmlns:p14="http://schemas.microsoft.com/office/powerpoint/2010/main" val="579523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725655-96BD-49B1-AAB1-3F12A629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安排好以后，带回常用日历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C4CD5EB7-DDC7-4C90-9C20-6EE4A16E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06 / 11</a:t>
            </a:r>
          </a:p>
        </p:txBody>
      </p:sp>
      <p:sp>
        <p:nvSpPr>
          <p:cNvPr id="3" name="课程日历">
            <a:extLst xmlns:a="http://schemas.openxmlformats.org/drawingml/2006/main">
              <a:ext uri="{FF2B5EF4-FFF2-40B4-BE49-F238E27FC236}">
                <a16:creationId xmlns:a16="http://schemas.microsoft.com/office/drawing/2014/main" id="{C76BEE4B-48FC-42EB-92F0-5E27751A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09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课程日历</a:t>
            </a:r>
          </a:p>
        </p:txBody>
      </p:sp>
      <p:sp>
        <p:nvSpPr>
          <p:cNvPr id="4" name="本学期全部课程&#10;时间与教室">
            <a:extLst xmlns:a="http://schemas.openxmlformats.org/drawingml/2006/main">
              <a:ext uri="{FF2B5EF4-FFF2-40B4-BE49-F238E27FC236}">
                <a16:creationId xmlns:a16="http://schemas.microsoft.com/office/drawing/2014/main" id="{8322E9C6-D005-4FE1-B997-E7F3429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709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本学期全部课程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时间与教室</a:t>
            </a:r>
          </a:p>
        </p:txBody>
      </p:sp>
      <p:sp>
        <p:nvSpPr>
          <p:cNvPr id="5" name="作业日历">
            <a:extLst xmlns:a="http://schemas.openxmlformats.org/drawingml/2006/main">
              <a:ext uri="{FF2B5EF4-FFF2-40B4-BE49-F238E27FC236}">
                <a16:creationId xmlns:a16="http://schemas.microsoft.com/office/drawing/2014/main" id="{91FEF7EB-ACB0-4025-813B-64B4ECF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709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作业日历</a:t>
            </a:r>
          </a:p>
        </p:txBody>
      </p:sp>
      <p:sp>
        <p:nvSpPr>
          <p:cNvPr id="6" name="近四周待交与迟交作业&#10;截止与提交平台">
            <a:extLst xmlns:a="http://schemas.openxmlformats.org/drawingml/2006/main">
              <a:ext uri="{FF2B5EF4-FFF2-40B4-BE49-F238E27FC236}">
                <a16:creationId xmlns:a16="http://schemas.microsoft.com/office/drawing/2014/main" id="{A9804CEB-06E2-47EE-A8C0-2F2BC9C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709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近四周待交与迟交作业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截止与提交平台</a:t>
            </a: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8E57FB4-F5F6-48DB-BFE5-A88986A3A6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31d57b15b4e1d"/>
          <a:stretch xmlns:a="http://schemas.openxmlformats.org/drawingml/2006/main"/>
        </p:blipFill>
        <p:spPr>
          <a:xfrm xmlns:a="http://schemas.openxmlformats.org/drawingml/2006/main">
            <a:off x="9048750" y="1363266"/>
            <a:ext cx="2133600" cy="4617244"/>
          </a:xfrm>
          <a:prstGeom xmlns:a="http://schemas.openxmlformats.org/drawingml/2006/main" prst="rect">
            <a:avLst/>
          </a:prstGeom>
        </p:spPr>
      </p:pic>
      <p:sp>
        <p:nvSpPr>
          <p:cNvPr id="8" name="手机尺寸网页">
            <a:extLst xmlns:a="http://schemas.openxmlformats.org/drawingml/2006/main">
              <a:ext uri="{FF2B5EF4-FFF2-40B4-BE49-F238E27FC236}">
                <a16:creationId xmlns:a16="http://schemas.microsoft.com/office/drawing/2014/main" id="{682879ED-A73E-4078-BBA9-0D0B6C1B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134100"/>
            <a:ext cx="280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手机尺寸网页</a:t>
            </a:r>
          </a:p>
        </p:txBody>
      </p:sp>
      <p:sp>
        <p:nvSpPr>
          <p:cNvPr id="9" name=".ics 文件导入，更新时需重新导出；手机截图为">
            <a:extLst xmlns:a="http://schemas.openxmlformats.org/drawingml/2006/main">
              <a:ext uri="{FF2B5EF4-FFF2-40B4-BE49-F238E27FC236}">
                <a16:creationId xmlns:a16="http://schemas.microsoft.com/office/drawing/2014/main" id="{A2585A91-8CCD-4195-B04A-8C67136C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.ics 文件导入，更新时需重新导出；手机截图为浏览器响应式视图</a:t>
            </a:r>
          </a:p>
        </p:txBody>
      </p:sp>
    </p:spTree>
    <p:extLst>
      <p:ext uri="{BB962C8B-B14F-4D97-AF65-F5344CB8AC3E}">
        <p14:creationId xmlns:p14="http://schemas.microsoft.com/office/powerpoint/2010/main" val="284766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ACB32D-2F77-4B57-90E8-170DFDE2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一门课，关联多个资料入口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729D8D1A-1C9A-4BE9-AA23-85BBF1D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07 / 11</a:t>
            </a: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0BB6EA1-AE2C-499E-9189-057E8A1584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a108600754022"/>
          <a:srcRect xmlns:a="http://schemas.openxmlformats.org/drawingml/2006/main" l="18446" t="0" r="3061" b="16039"/>
          <a:stretch xmlns:a="http://schemas.openxmlformats.org/drawingml/2006/main"/>
        </p:blipFill>
        <p:spPr>
          <a:xfrm xmlns:a="http://schemas.openxmlformats.org/drawingml/2006/main">
            <a:off x="609600" y="1457325"/>
            <a:ext cx="7791450" cy="4686300"/>
          </a:xfrm>
          <a:prstGeom xmlns:a="http://schemas.openxmlformats.org/drawingml/2006/main" prst="rect">
            <a:avLst/>
          </a:prstGeom>
        </p:spPr>
      </p:pic>
      <p:sp>
        <p:nvSpPr>
          <p:cNvPr id="4" name="同一门课">
            <a:extLst xmlns:a="http://schemas.openxmlformats.org/drawingml/2006/main">
              <a:ext uri="{FF2B5EF4-FFF2-40B4-BE49-F238E27FC236}">
                <a16:creationId xmlns:a16="http://schemas.microsoft.com/office/drawing/2014/main" id="{8D47126B-C5A7-421B-8F42-406258C4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002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同一门课</a:t>
            </a:r>
          </a:p>
        </p:txBody>
      </p:sp>
      <p:sp>
        <p:nvSpPr>
          <p:cNvPr id="5" name="课件与教学大纲&#10;录播记录&#10;上课安排&#10;原平台入口">
            <a:extLst xmlns:a="http://schemas.openxmlformats.org/drawingml/2006/main">
              <a:ext uri="{FF2B5EF4-FFF2-40B4-BE49-F238E27FC236}">
                <a16:creationId xmlns:a16="http://schemas.microsoft.com/office/drawing/2014/main" id="{00AE51A8-E8FA-418C-8D95-0C58C552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47950"/>
            <a:ext cx="2714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课件与教学大纲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录播记录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上课安排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原平台入口</a:t>
            </a:r>
          </a:p>
        </p:txBody>
      </p:sp>
      <p:sp>
        <p:nvSpPr>
          <p:cNvPr id="6" name="已有学业资料&#10;还可辅助选课讨论">
            <a:extLst xmlns:a="http://schemas.openxmlformats.org/drawingml/2006/main">
              <a:ext uri="{FF2B5EF4-FFF2-40B4-BE49-F238E27FC236}">
                <a16:creationId xmlns:a16="http://schemas.microsoft.com/office/drawing/2014/main" id="{7F076E89-E875-4107-B5F7-9C3C2447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238750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已有学业资料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还可辅助选课讨论</a:t>
            </a:r>
          </a:p>
        </p:txBody>
      </p:sp>
      <p:sp>
        <p:nvSpPr>
          <p:cNvPr id="7" name="实际运行截图；正式选课与未来开课仍以学校公布信息">
            <a:extLst xmlns:a="http://schemas.openxmlformats.org/drawingml/2006/main">
              <a:ext uri="{FF2B5EF4-FFF2-40B4-BE49-F238E27FC236}">
                <a16:creationId xmlns:a16="http://schemas.microsoft.com/office/drawing/2014/main" id="{253E7E68-E6AB-42D4-9A55-ADABA7AC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实际运行截图；正式选课与未来开课仍以学校公布信息为准</a:t>
            </a:r>
          </a:p>
        </p:txBody>
      </p:sp>
    </p:spTree>
    <p:extLst>
      <p:ext uri="{BB962C8B-B14F-4D97-AF65-F5344CB8AC3E}">
        <p14:creationId xmlns:p14="http://schemas.microsoft.com/office/powerpoint/2010/main" val="32320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C8EC59-4FF7-480C-8CA9-72773DB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校园地图与课程群扩展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0B16D618-304F-45D3-92E1-9CF5BE9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08 / 11</a:t>
            </a: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215DE779-CB7E-41DF-A474-FFC4ADFCB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68ff3cdfc42ed"/>
          <a:srcRect xmlns:a="http://schemas.openxmlformats.org/drawingml/2006/main" l="20016" t="25384" r="4239" b="0"/>
          <a:stretch xmlns:a="http://schemas.openxmlformats.org/drawingml/2006/main"/>
        </p:blipFill>
        <p:spPr>
          <a:xfrm xmlns:a="http://schemas.openxmlformats.org/drawingml/2006/main">
            <a:off x="609600" y="1457325"/>
            <a:ext cx="7477125" cy="4143375"/>
          </a:xfrm>
          <a:prstGeom xmlns:a="http://schemas.openxmlformats.org/drawingml/2006/main" prst="rect">
            <a:avLst/>
          </a:prstGeom>
        </p:spPr>
      </p:pic>
      <p:sp>
        <p:nvSpPr>
          <p:cNvPr id="4" name="地图">
            <a:extLst xmlns:a="http://schemas.openxmlformats.org/drawingml/2006/main">
              <a:ext uri="{FF2B5EF4-FFF2-40B4-BE49-F238E27FC236}">
                <a16:creationId xmlns:a16="http://schemas.microsoft.com/office/drawing/2014/main" id="{FD06D51D-5F8B-4EB8-91F1-E6D3729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地图</a:t>
            </a:r>
          </a:p>
        </p:txBody>
      </p:sp>
      <p:sp>
        <p:nvSpPr>
          <p:cNvPr id="5" name="建筑、室外步行与电梯说明">
            <a:extLst xmlns:a="http://schemas.openxmlformats.org/drawingml/2006/main">
              <a:ext uri="{FF2B5EF4-FFF2-40B4-BE49-F238E27FC236}">
                <a16:creationId xmlns:a16="http://schemas.microsoft.com/office/drawing/2014/main" id="{A4A255CA-09EA-4B19-83C3-7B12C71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建筑、室外步行与电梯说明</a:t>
            </a:r>
          </a:p>
        </p:txBody>
      </p:sp>
      <p:sp>
        <p:nvSpPr>
          <p:cNvPr id="6" name="群消息">
            <a:extLst xmlns:a="http://schemas.openxmlformats.org/drawingml/2006/main">
              <a:ext uri="{FF2B5EF4-FFF2-40B4-BE49-F238E27FC236}">
                <a16:creationId xmlns:a16="http://schemas.microsoft.com/office/drawing/2014/main" id="{247069B3-9BF6-4F95-A0C1-9C29F467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81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群消息</a:t>
            </a:r>
          </a:p>
        </p:txBody>
      </p:sp>
      <p:sp>
        <p:nvSpPr>
          <p:cNvPr id="7" name="微信本机采集&#10;QQ OneBot 接入&#10;按群选择">
            <a:extLst xmlns:a="http://schemas.openxmlformats.org/drawingml/2006/main">
              <a:ext uri="{FF2B5EF4-FFF2-40B4-BE49-F238E27FC236}">
                <a16:creationId xmlns:a16="http://schemas.microsoft.com/office/drawing/2014/main" id="{4FDBD55E-2E1F-4759-B6FC-21AC2E9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62225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微信本机采集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QQ OneBot 接入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按群选择与课程绑定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提取后确认或撤销</a:t>
            </a:r>
          </a:p>
        </p:txBody>
      </p:sp>
      <p:sp>
        <p:nvSpPr>
          <p:cNvPr id="8" name="真实课程群增量验收&#10;仍需完成">
            <a:extLst xmlns:a="http://schemas.openxmlformats.org/drawingml/2006/main">
              <a:ext uri="{FF2B5EF4-FFF2-40B4-BE49-F238E27FC236}">
                <a16:creationId xmlns:a16="http://schemas.microsoft.com/office/drawing/2014/main" id="{F6199468-3B03-4783-92FE-A8957AE4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48275"/>
            <a:ext cx="295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真实课程群增量验收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仍需完成</a:t>
            </a:r>
          </a:p>
        </p:txBody>
      </p:sp>
      <p:sp>
        <p:nvSpPr>
          <p:cNvPr id="9" name="地图：学校官方地图与 © OpenStreetM">
            <a:extLst xmlns:a="http://schemas.openxmlformats.org/drawingml/2006/main">
              <a:ext uri="{FF2B5EF4-FFF2-40B4-BE49-F238E27FC236}">
                <a16:creationId xmlns:a16="http://schemas.microsoft.com/office/drawing/2014/main" id="{BDE67F92-3ED7-4937-8210-C86E992C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地图：学校官方地图与 © OpenStreetMap contributors；通行情况以现场为准</a:t>
            </a:r>
          </a:p>
        </p:txBody>
      </p:sp>
    </p:spTree>
    <p:extLst>
      <p:ext uri="{BB962C8B-B14F-4D97-AF65-F5344CB8AC3E}">
        <p14:creationId xmlns:p14="http://schemas.microsoft.com/office/powerpoint/2010/main" val="132232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BE05E8-C924-4282-98E1-059EEFB4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通知为什么与我有关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CFFD6D4B-7F1E-45CC-B078-8BB1A199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09 / 11</a:t>
            </a:r>
          </a:p>
        </p:txBody>
      </p:sp>
      <p:sp>
        <p:nvSpPr>
          <p:cNvPr id="3" name="讲座通知按校园需求分类，并给出原文理由">
            <a:extLst xmlns:a="http://schemas.openxmlformats.org/drawingml/2006/main">
              <a:ext uri="{FF2B5EF4-FFF2-40B4-BE49-F238E27FC236}">
                <a16:creationId xmlns:a16="http://schemas.microsoft.com/office/drawing/2014/main" id="{AC906AE6-B9C1-4ADB-B8E0-CD491F81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CE8"/>
                </a:solidFill>
                <a:latin typeface="Microsoft YaHei"/>
                <a:ea typeface="Microsoft YaHei"/>
                <a:cs typeface="Microsoft YaHei"/>
              </a:rPr>
              <a:t>讲座通知按校园需求分类，并给出原文理由</a:t>
            </a: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FBD74F4B-5C82-43EA-903E-F0D4A1D92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4b5ecee8a4fd1"/>
          <a:srcRect xmlns:a="http://schemas.openxmlformats.org/drawingml/2006/main" l="0" t="22222" r="0" b="6061"/>
          <a:stretch xmlns:a="http://schemas.openxmlformats.org/drawingml/2006/main"/>
        </p:blipFill>
        <p:spPr>
          <a:xfrm xmlns:a="http://schemas.openxmlformats.org/drawingml/2006/main">
            <a:off x="609600" y="2324100"/>
            <a:ext cx="8524875" cy="3133725"/>
          </a:xfrm>
          <a:prstGeom xmlns:a="http://schemas.openxmlformats.org/drawingml/2006/main" prst="rect">
            <a:avLst/>
          </a:prstGeom>
        </p:spPr>
      </p:pic>
      <p:sp>
        <p:nvSpPr>
          <p:cNvPr id="5" name="原文要求&#10;个人偏好&#10;分类理由">
            <a:extLst xmlns:a="http://schemas.openxmlformats.org/drawingml/2006/main">
              <a:ext uri="{FF2B5EF4-FFF2-40B4-BE49-F238E27FC236}">
                <a16:creationId xmlns:a16="http://schemas.microsoft.com/office/drawing/2014/main" id="{B8CD3AA3-1A6C-46DC-8727-0E06D72E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28850"/>
            <a:ext cx="210502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原文要求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个人偏好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分类理由</a:t>
            </a:r>
          </a:p>
        </p:txBody>
      </p:sp>
      <p:sp>
        <p:nvSpPr>
          <p:cNvPr id="6" name="参加与报名&#10;由用户决定">
            <a:extLst xmlns:a="http://schemas.openxmlformats.org/drawingml/2006/main">
              <a:ext uri="{FF2B5EF4-FFF2-40B4-BE49-F238E27FC236}">
                <a16:creationId xmlns:a16="http://schemas.microsoft.com/office/drawing/2014/main" id="{F97101AD-A704-46AF-B4A5-30CF8A7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72025"/>
            <a:ext cx="2105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参加与报名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由用户决定</a:t>
            </a:r>
          </a:p>
        </p:txBody>
      </p:sp>
      <p:sp>
        <p:nvSpPr>
          <p:cNvPr id="7" name="实际运行截图；分类与日周总结覆盖最近最多 100">
            <a:extLst xmlns:a="http://schemas.openxmlformats.org/drawingml/2006/main">
              <a:ext uri="{FF2B5EF4-FFF2-40B4-BE49-F238E27FC236}">
                <a16:creationId xmlns:a16="http://schemas.microsoft.com/office/drawing/2014/main" id="{A79D7DF4-D36C-4474-97CF-2F29DFF9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实际运行截图；分类与日周总结覆盖最近最多 100 封已同步邮件</a:t>
            </a:r>
          </a:p>
        </p:txBody>
      </p:sp>
    </p:spTree>
    <p:extLst>
      <p:ext uri="{BB962C8B-B14F-4D97-AF65-F5344CB8AC3E}">
        <p14:creationId xmlns:p14="http://schemas.microsoft.com/office/powerpoint/2010/main" val="17490093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C2E55-DDDD-48BB-82F9-1916F9E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待加入的功能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8AACDBE2-0CDB-40E1-988D-1A279472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  <p:sp>
        <p:nvSpPr>
          <p:cNvPr id="3" name="取资料">
            <a:extLst xmlns:a="http://schemas.openxmlformats.org/drawingml/2006/main">
              <a:ext uri="{FF2B5EF4-FFF2-40B4-BE49-F238E27FC236}">
                <a16:creationId xmlns:a16="http://schemas.microsoft.com/office/drawing/2014/main" id="{A616430F-B27F-437F-A2A2-CC4D3D8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多来源提醒</a:t>
            </a:r>
          </a:p>
        </p:txBody>
      </p:sp>
      <p:sp>
        <p:nvSpPr>
          <p:cNvPr id="4" name="校园工具按需读取">
            <a:extLst xmlns:a="http://schemas.openxmlformats.org/drawingml/2006/main">
              <a:ext uri="{FF2B5EF4-FFF2-40B4-BE49-F238E27FC236}">
                <a16:creationId xmlns:a16="http://schemas.microsoft.com/office/drawing/2014/main" id="{DD545651-30EC-4CFD-97A6-1C5128E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Quiz、签到与考试提醒</a:t>
            </a:r>
          </a:p>
        </p:txBody>
      </p:sp>
      <p:sp>
        <p:nvSpPr>
          <p:cNvPr id="5" name="19 个模块通过公开 API 协作">
            <a:extLst xmlns:a="http://schemas.openxmlformats.org/drawingml/2006/main">
              <a:ext uri="{FF2B5EF4-FFF2-40B4-BE49-F238E27FC236}">
                <a16:creationId xmlns:a16="http://schemas.microsoft.com/office/drawing/2014/main" id="{489D5E5F-3DD4-4E23-B634-012FB6F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865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汇总 Blackboard、课堂录播及微信／QQ 群消息</a:t>
            </a:r>
          </a:p>
        </p:txBody>
      </p:sp>
      <p:sp>
        <p:nvSpPr>
          <p:cNvPr id="6" name="核对依据">
            <a:extLst xmlns:a="http://schemas.openxmlformats.org/drawingml/2006/main">
              <a:ext uri="{FF2B5EF4-FFF2-40B4-BE49-F238E27FC236}">
                <a16:creationId xmlns:a16="http://schemas.microsoft.com/office/drawing/2014/main" id="{3BF09B6A-655C-4F8B-8217-42AB2458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复习范围</a:t>
            </a:r>
          </a:p>
        </p:txBody>
      </p:sp>
      <p:sp>
        <p:nvSpPr>
          <p:cNvPr id="7" name="原文与本轮来源对应">
            <a:extLst xmlns:a="http://schemas.openxmlformats.org/drawingml/2006/main">
              <a:ext uri="{FF2B5EF4-FFF2-40B4-BE49-F238E27FC236}">
                <a16:creationId xmlns:a16="http://schemas.microsoft.com/office/drawing/2014/main" id="{4E33ED3E-52D2-41AB-87CE-816F8373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结合课堂进度总结复习重点</a:t>
            </a:r>
          </a:p>
        </p:txBody>
      </p:sp>
      <p:sp>
        <p:nvSpPr>
          <p:cNvPr id="8" name="缺资料时保留缺口，推理仍需判断">
            <a:extLst xmlns:a="http://schemas.openxmlformats.org/drawingml/2006/main">
              <a:ext uri="{FF2B5EF4-FFF2-40B4-BE49-F238E27FC236}">
                <a16:creationId xmlns:a16="http://schemas.microsoft.com/office/drawing/2014/main" id="{29619FF4-FEAD-499D-A716-3E97BFD7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57600"/>
            <a:ext cx="865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综合老师讲授内容、录播与 PPT 进度，梳理 Quiz 范围</a:t>
            </a:r>
          </a:p>
        </p:txBody>
      </p:sp>
      <p:sp>
        <p:nvSpPr>
          <p:cNvPr id="9" name="执行操作">
            <a:extLst xmlns:a="http://schemas.openxmlformats.org/drawingml/2006/main">
              <a:ext uri="{FF2B5EF4-FFF2-40B4-BE49-F238E27FC236}">
                <a16:creationId xmlns:a16="http://schemas.microsoft.com/office/drawing/2014/main" id="{69907FDC-8B37-4B70-82E5-A96179C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工作台配置</a:t>
            </a:r>
          </a:p>
        </p:txBody>
      </p:sp>
      <p:sp>
        <p:nvSpPr>
          <p:cNvPr id="10" name="明确意愿、版本检查、实际回执">
            <a:extLst xmlns:a="http://schemas.openxmlformats.org/drawingml/2006/main">
              <a:ext uri="{FF2B5EF4-FFF2-40B4-BE49-F238E27FC236}">
                <a16:creationId xmlns:a16="http://schemas.microsoft.com/office/drawing/2014/main" id="{D2ABC83C-E959-412A-A45B-2D5DF896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授权首页 AI 助手管理工作台</a:t>
            </a:r>
          </a:p>
        </p:txBody>
      </p:sp>
      <p:sp>
        <p:nvSpPr>
          <p:cNvPr id="11" name="修改只在授权的本地业务范围内进行">
            <a:extLst xmlns:a="http://schemas.openxmlformats.org/drawingml/2006/main">
              <a:ext uri="{FF2B5EF4-FFF2-40B4-BE49-F238E27FC236}">
                <a16:creationId xmlns:a16="http://schemas.microsoft.com/office/drawing/2014/main" id="{A88B42C0-2561-4065-BEC1-BC673AC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72050"/>
            <a:ext cx="865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根据个人偏好，自动调整工作台配置</a:t>
            </a:r>
          </a:p>
        </p:txBody>
      </p:sp>
      <p:sp>
        <p:nvSpPr>
          <p:cNvPr id="12" name="团队实现校园工具与业务校验；官方 DeepSee">
            <a:extLst xmlns:a="http://schemas.openxmlformats.org/drawingml/2006/main">
              <a:ext uri="{FF2B5EF4-FFF2-40B4-BE49-F238E27FC236}">
                <a16:creationId xmlns:a16="http://schemas.microsoft.com/office/drawing/2014/main" id="{7DC43AB3-7467-4594-9F83-7E3988EC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以上为待加入的功能，尚未完整实现</a:t>
            </a:r>
          </a:p>
        </p:txBody>
      </p:sp>
    </p:spTree>
    <p:extLst>
      <p:ext uri="{BB962C8B-B14F-4D97-AF65-F5344CB8AC3E}">
        <p14:creationId xmlns:p14="http://schemas.microsoft.com/office/powerpoint/2010/main" val="5795231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label">
            <a:extLst xmlns:a="http://schemas.openxmlformats.org/drawingml/2006/main">
              <a:ext uri="{FF2B5EF4-FFF2-40B4-BE49-F238E27FC236}">
                <a16:creationId xmlns:a16="http://schemas.microsoft.com/office/drawing/2014/main" id="{E85C84E8-8697-4B9D-B24D-AE9D35A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sp>
        <p:nvSpPr>
          <p:cNvPr id="2" name="campusMate">
            <a:extLst xmlns:a="http://schemas.openxmlformats.org/drawingml/2006/main">
              <a:ext uri="{FF2B5EF4-FFF2-40B4-BE49-F238E27FC236}">
                <a16:creationId xmlns:a16="http://schemas.microsoft.com/office/drawing/2014/main" id="{7D71BBBF-DE84-4021-B565-1D066560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campusMate</a:t>
            </a:r>
          </a:p>
        </p:txBody>
      </p:sp>
      <p:sp>
        <p:nvSpPr>
          <p:cNvPr id="3" name="事情是什么">
            <a:extLst xmlns:a="http://schemas.openxmlformats.org/drawingml/2006/main">
              <a:ext uri="{FF2B5EF4-FFF2-40B4-BE49-F238E27FC236}">
                <a16:creationId xmlns:a16="http://schemas.microsoft.com/office/drawing/2014/main" id="{F54CFC2C-B61D-4A58-9744-E59472E1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事情是什么</a:t>
            </a:r>
          </a:p>
        </p:txBody>
      </p:sp>
      <p:sp>
        <p:nvSpPr>
          <p:cNvPr id="4" name="依据在哪里">
            <a:extLst xmlns:a="http://schemas.openxmlformats.org/drawingml/2006/main">
              <a:ext uri="{FF2B5EF4-FFF2-40B4-BE49-F238E27FC236}">
                <a16:creationId xmlns:a16="http://schemas.microsoft.com/office/drawing/2014/main" id="{94028478-519F-4E4D-9D6A-6F0FFC85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依据在哪里</a:t>
            </a:r>
          </a:p>
        </p:txBody>
      </p:sp>
      <p:sp>
        <p:nvSpPr>
          <p:cNvPr id="5" name="下一步怎么做">
            <a:extLst xmlns:a="http://schemas.openxmlformats.org/drawingml/2006/main">
              <a:ext uri="{FF2B5EF4-FFF2-40B4-BE49-F238E27FC236}">
                <a16:creationId xmlns:a16="http://schemas.microsoft.com/office/drawing/2014/main" id="{E39984B0-D3CA-4BDD-8440-B82A6F68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09750"/>
            <a:ext cx="3571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下一步怎么做</a:t>
            </a:r>
          </a:p>
        </p:txBody>
      </p:sp>
      <p:sp>
        <p:nvSpPr>
          <p:cNvPr id="6" name="Study smarter.&#10;Panic mor">
            <a:extLst xmlns:a="http://schemas.openxmlformats.org/drawingml/2006/main">
              <a:ext uri="{FF2B5EF4-FFF2-40B4-BE49-F238E27FC236}">
                <a16:creationId xmlns:a16="http://schemas.microsoft.com/office/drawing/2014/main" id="{2ED499B4-7005-4E00-A3C8-CBA45F11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719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Study smarter.</a:t>
            </a:r>
          </a:p>
          <a:p xmlns:a="http://schemas.openxmlformats.org/drawingml/2006/main">
            <a:pPr algn="l">
              <a:buNone/>
              <a:def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Panic more efficiently.</a:t>
            </a:r>
          </a:p>
        </p:txBody>
      </p:sp>
      <p:sp>
        <p:nvSpPr>
          <p:cNvPr id="7" name="更聪明地学习。更高效地崩溃。">
            <a:extLst xmlns:a="http://schemas.openxmlformats.org/drawingml/2006/main">
              <a:ext uri="{FF2B5EF4-FFF2-40B4-BE49-F238E27FC236}">
                <a16:creationId xmlns:a16="http://schemas.microsoft.com/office/drawing/2014/main" id="{340DC32C-4362-4A08-B7C6-52CB1D43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更聪明地学习。更高效地崩溃。</a:t>
            </a:r>
          </a:p>
        </p:txBody>
      </p:sp>
      <p:sp>
        <p:nvSpPr>
          <p:cNvPr id="8" name="下一步&#10;真实课程群验收&#10;手机真机测试&#10;校内试用">
            <a:extLst xmlns:a="http://schemas.openxmlformats.org/drawingml/2006/main">
              <a:ext uri="{FF2B5EF4-FFF2-40B4-BE49-F238E27FC236}">
                <a16:creationId xmlns:a16="http://schemas.microsoft.com/office/drawing/2014/main" id="{4631684E-9ACC-4D83-ACE1-1C577D25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真实课程群验收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手机真机测试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校内试用</a:t>
            </a:r>
          </a:p>
        </p:txBody>
      </p:sp>
      <p:sp>
        <p:nvSpPr>
          <p:cNvPr id="9" name="AAA罗德岛工程部">
            <a:extLst xmlns:a="http://schemas.openxmlformats.org/drawingml/2006/main">
              <a:ext uri="{FF2B5EF4-FFF2-40B4-BE49-F238E27FC236}">
                <a16:creationId xmlns:a16="http://schemas.microsoft.com/office/drawing/2014/main" id="{D62227DD-602F-41D2-861F-A3D2F0A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BE5D6"/>
                </a:solidFill>
                <a:latin typeface="Microsoft YaHei"/>
                <a:ea typeface="Microsoft YaHei"/>
                <a:cs typeface="Microsoft YaHei"/>
              </a:rPr>
              <a:t>AAA罗德岛工程部</a:t>
            </a:r>
          </a:p>
        </p:txBody>
      </p:sp>
      <p:sp>
        <p:nvSpPr>
          <p:cNvPr id="10" name="钦佳麒    杨涵    张天祺    文玉涛">
            <a:extLst xmlns:a="http://schemas.openxmlformats.org/drawingml/2006/main">
              <a:ext uri="{FF2B5EF4-FFF2-40B4-BE49-F238E27FC236}">
                <a16:creationId xmlns:a16="http://schemas.microsoft.com/office/drawing/2014/main" id="{7E68A482-B6A5-4F91-B662-3BD1538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钦佳麒    杨涵    张天祺    文玉涛</a:t>
            </a:r>
          </a:p>
        </p:txBody>
      </p:sp>
      <p:sp>
        <p:nvSpPr>
          <p:cNvPr id="11" name="github.com/David-goldenm">
            <a:extLst xmlns:a="http://schemas.openxmlformats.org/drawingml/2006/main">
              <a:ext uri="{FF2B5EF4-FFF2-40B4-BE49-F238E27FC236}">
                <a16:creationId xmlns:a16="http://schemas.microsoft.com/office/drawing/2014/main" id="{1A6214A4-5181-49D4-A90A-1B18BF16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AD5E8"/>
                </a:solidFill>
                <a:latin typeface="Microsoft YaHei"/>
                <a:ea typeface="Microsoft YaHei"/>
                <a:cs typeface="Microsoft YaHei"/>
              </a:rPr>
              <a:t>github.com/David-goldenman/Shanghaitech-2026-Hackthon</a:t>
            </a:r>
          </a:p>
        </p:txBody>
      </p:sp>
    </p:spTree>
    <p:extLst>
      <p:ext uri="{BB962C8B-B14F-4D97-AF65-F5344CB8AC3E}">
        <p14:creationId xmlns:p14="http://schemas.microsoft.com/office/powerpoint/2010/main" val="700460265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CF08A5-1560-405F-8802-2D05DDF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已做到了哪里，还要验证什么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30B519A9-731D-4FB1-82A0-2BC54ACD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答辩 1</a:t>
            </a: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B1A412AC-75F4-48EE-B446-63BCDAA4AE2C}"/>
              </a:ext>
            </a:extLst>
          </p:cNvPr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61962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9775"/>
                <a:gridCol w="4810125"/>
                <a:gridCol w="4152900"/>
              </a:tblGrid>
              <a:tr h="533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20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已有证据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20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继续验证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202C40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校园资料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六个来源的历史真实登录与基础同步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来源协议变化与内容覆盖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学习规划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实际回答、引用与已有验收记录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建议质量与真实课程场景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账号／记录版本与回执校验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多场景冲突与失败恢复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微信与 QQ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接入、选群、提取、确认等合成回归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真实课程群增量采集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Android 独立版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模拟器登录、问答与本地操作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ARM64 实体手机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手机日历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课程／作业分别导出 .ics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日历导入与提醒实机表现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</a:tr>
            </a:tbl>
          </a:graphicData>
        </a:graphic>
      </p:graphicFrame>
      <p:sp>
        <p:nvSpPr>
          <p:cNvPr id="4" name="截图说明当前界面；历史验收与待验收范围分别列示，">
            <a:extLst xmlns:a="http://schemas.openxmlformats.org/drawingml/2006/main">
              <a:ext uri="{FF2B5EF4-FFF2-40B4-BE49-F238E27FC236}">
                <a16:creationId xmlns:a16="http://schemas.microsoft.com/office/drawing/2014/main" id="{F7FCC831-8A6C-47E6-99C2-00E00E47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截图说明当前界面；历史验收与待验收范围分别列示，不代表用户规模或效果数据</a:t>
            </a:r>
          </a:p>
        </p:txBody>
      </p:sp>
    </p:spTree>
    <p:extLst>
      <p:ext uri="{BB962C8B-B14F-4D97-AF65-F5344CB8AC3E}">
        <p14:creationId xmlns:p14="http://schemas.microsoft.com/office/powerpoint/2010/main" val="1173196119"/>
      </p:ext>
    </p:extLst>
  </p:cSld>
</p:sld>
</file>

<file path=ppt/slides/slide1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25F9A7-4E67-4E81-A530-5F391C8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148"/>
                </a:solidFill>
                <a:latin typeface="Microsoft YaHei"/>
                <a:ea typeface="Microsoft YaHei"/>
                <a:cs typeface="Microsoft YaHei"/>
              </a:rPr>
              <a:t>团队原创与第三方各承担什么</a:t>
            </a:r>
          </a:p>
        </p:txBody>
      </p:sp>
      <p:sp>
        <p:nvSpPr>
          <p:cNvPr id="2" name="page-label">
            <a:extLst xmlns:a="http://schemas.openxmlformats.org/drawingml/2006/main">
              <a:ext uri="{FF2B5EF4-FFF2-40B4-BE49-F238E27FC236}">
                <a16:creationId xmlns:a16="http://schemas.microsoft.com/office/drawing/2014/main" id="{132FB384-1F86-4215-A03A-9164A8E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484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答辩 2</a:t>
            </a: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F10D8570-AFF6-45C4-A21F-C9BC6E75566E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44672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4100"/>
                <a:gridCol w="8648700"/>
              </a:tblGrid>
              <a:tr h="533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20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来源与职责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202C40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团队业务实现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课程资料关联、校园工具、引用与版本校验、本地操作回执、工作台整合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服务与界面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等开源依赖，原生 ES Modules，文档化模块 API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运行时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DeepSeek Harness 原生插件，用户选择的模型服务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群消息接入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团队既有客户端代码，WCDB 许可，NapCat／OneBot 连接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E9EEF7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地图与视觉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1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学校官方地图、OpenStreetMap，项目品牌资产及各主题来源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9E0EC"/>
                      </a:solidFill>
                      <a:prstDash val="solid"/>
                    </a:lnL>
                    <a:lnR w="9525">
                      <a:solidFill>
                        <a:srgbClr val="D9E0EC"/>
                      </a:solidFill>
                      <a:prstDash val="solid"/>
                    </a:lnR>
                    <a:lnT w="9525" cmpd="sng">
                      <a:solidFill>
                        <a:srgbClr val="D9E0EC"/>
                      </a:solidFill>
                      <a:prstDash val="solid"/>
                    </a:lnT>
                    <a:lnB w="9525">
                      <a:solidFill>
                        <a:srgbClr val="D9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第三方版本、许可证与具体改动，按正式提交声明逐项">
            <a:extLst xmlns:a="http://schemas.openxmlformats.org/drawingml/2006/main">
              <a:ext uri="{FF2B5EF4-FFF2-40B4-BE49-F238E27FC236}">
                <a16:creationId xmlns:a16="http://schemas.microsoft.com/office/drawing/2014/main" id="{F00DCF3C-CD3E-4F46-BF34-1BAD45DD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80"/>
                </a:solidFill>
                <a:latin typeface="Microsoft YaHei"/>
                <a:ea typeface="Microsoft YaHei"/>
                <a:cs typeface="Microsoft YaHei"/>
              </a:rPr>
              <a:t>第三方版本、许可证与具体改动，按正式提交声明逐项列明</a:t>
            </a:r>
          </a:p>
        </p:txBody>
      </p:sp>
    </p:spTree>
    <p:extLst>
      <p:ext uri="{BB962C8B-B14F-4D97-AF65-F5344CB8AC3E}">
        <p14:creationId xmlns:p14="http://schemas.microsoft.com/office/powerpoint/2010/main" val="1909315942"/>
      </p:ext>
    </p:extLst>
  </p:cSld>
</p:sld>
</file>

<file path=ppt/theme/theme1.xml><?xml version="1.0" encoding="utf-8"?>
<a:theme xmlns:a="http://schemas.openxmlformats.org/drawingml/2006/main" name="ChatGPT">
  <a:themeElements>
    <a:clrScheme name="campusMate">
      <a:dk1>
        <a:srgbClr val="000000"/>
      </a:dk1>
      <a:lt1>
        <a:srgbClr val="FFFFFF"/>
      </a:lt1>
      <a:dk2>
        <a:srgbClr val="202C40"/>
      </a:dk2>
      <a:lt2>
        <a:srgbClr val="F5F7FB"/>
      </a:lt2>
      <a:accent1>
        <a:srgbClr val="596CE8"/>
      </a:accent1>
      <a:accent2>
        <a:srgbClr val="ABE5D6"/>
      </a:accent2>
      <a:accent3>
        <a:srgbClr val="CAD5E8"/>
      </a:accent3>
      <a:accent4>
        <a:srgbClr val="E9C16F"/>
      </a:accent4>
      <a:accent5>
        <a:srgbClr val="667B98"/>
      </a:accent5>
      <a:accent6>
        <a:srgbClr val="BFD8E6"/>
      </a:accent6>
      <a:hlink>
        <a:srgbClr val="596CE8"/>
      </a:hlink>
      <a:folHlink>
        <a:srgbClr val="775ACB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ampusM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2026-10-18T08:46:48.7240000Z</dcterms:created>
  <dcterms:modified xsi:type="dcterms:W3CDTF">2026-10-18T08:46:48.7240000Z</dcterms:modified>
</coreProperties>
</file>