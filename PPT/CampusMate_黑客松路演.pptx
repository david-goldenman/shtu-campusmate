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fa0662b8743d7" /><Relationship Type="http://schemas.openxmlformats.org/officeDocument/2006/relationships/extended-properties" Target="/docProps/app.xml" Id="Rec074cc5f7ab4f1d" /><Relationship Type="http://schemas.openxmlformats.org/officeDocument/2006/relationships/officeDocument" Target="/ppt/presentation.xml" Id="R20f89557cf1342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7f360f4374110"/>
  </p:sldMasterIdLst>
  <p:notesMasterIdLst>
    <p:notesMasterId xmlns:r="http://schemas.openxmlformats.org/officeDocument/2006/relationships" r:id="R936be8c508744ad7"/>
  </p:notesMasterIdLst>
  <p:sldIdLst>
    <p:sldId xmlns:r="http://schemas.openxmlformats.org/officeDocument/2006/relationships" id="256" r:id="R539b181b904745d8"/>
    <p:sldId xmlns:r="http://schemas.openxmlformats.org/officeDocument/2006/relationships" id="257" r:id="R4d9ed8fb5ef94e25"/>
    <p:sldId xmlns:r="http://schemas.openxmlformats.org/officeDocument/2006/relationships" id="258" r:id="R60bd83d36b3a474d"/>
    <p:sldId xmlns:r="http://schemas.openxmlformats.org/officeDocument/2006/relationships" id="259" r:id="R9535e1e233994bb5"/>
    <p:sldId xmlns:r="http://schemas.openxmlformats.org/officeDocument/2006/relationships" id="260" r:id="Ra53166433c194748"/>
    <p:sldId xmlns:r="http://schemas.openxmlformats.org/officeDocument/2006/relationships" id="261" r:id="R1c004ed355894b4c"/>
    <p:sldId xmlns:r="http://schemas.openxmlformats.org/officeDocument/2006/relationships" id="262" r:id="R9e14f2163ed848cd"/>
    <p:sldId xmlns:r="http://schemas.openxmlformats.org/officeDocument/2006/relationships" id="263" r:id="R1eaefdc0907b49ec"/>
    <p:sldId xmlns:r="http://schemas.openxmlformats.org/officeDocument/2006/relationships" id="264" r:id="R4d4e1a216d7e4d3e"/>
    <p:sldId xmlns:r="http://schemas.openxmlformats.org/officeDocument/2006/relationships" id="265" r:id="R10f48fa709704eb1"/>
    <p:sldId xmlns:r="http://schemas.openxmlformats.org/officeDocument/2006/relationships" id="266" r:id="R3856799abc934713"/>
    <p:sldId xmlns:r="http://schemas.openxmlformats.org/officeDocument/2006/relationships" id="267" r:id="Ra071011768d94871"/>
    <p:sldId xmlns:r="http://schemas.openxmlformats.org/officeDocument/2006/relationships" id="268" r:id="Rf04f574c119d417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b50f7dc6f47e1" /><Relationship Type="http://schemas.openxmlformats.org/officeDocument/2006/relationships/slideMaster" Target="/ppt/slideMasters/slideMaster1.xml" Id="R7b47f360f4374110" /><Relationship Type="http://schemas.openxmlformats.org/officeDocument/2006/relationships/notesMaster" Target="/ppt/notesMasters/notesMaster1.xml" Id="R936be8c508744ad7" /><Relationship Type="http://schemas.openxmlformats.org/officeDocument/2006/relationships/presProps" Target="/ppt/presProps.xml" Id="R42d7ca2ca662410c" /><Relationship Type="http://schemas.openxmlformats.org/officeDocument/2006/relationships/viewProps" Target="/ppt/viewProps.xml" Id="Rb5d36c5234c34f67" /><Relationship Type="http://schemas.openxmlformats.org/officeDocument/2006/relationships/tableStyles" Target="/ppt/tableStyles.xml" Id="R6070e6e7a18f4de6" /><Relationship Type="http://schemas.openxmlformats.org/officeDocument/2006/relationships/slide" Target="/ppt/slides/slide1.xml" Id="R539b181b904745d8" /><Relationship Type="http://schemas.openxmlformats.org/officeDocument/2006/relationships/slide" Target="/ppt/slides/slide2.xml" Id="R4d9ed8fb5ef94e25" /><Relationship Type="http://schemas.openxmlformats.org/officeDocument/2006/relationships/slide" Target="/ppt/slides/slide3.xml" Id="R60bd83d36b3a474d" /><Relationship Type="http://schemas.openxmlformats.org/officeDocument/2006/relationships/slide" Target="/ppt/slides/slide4.xml" Id="R9535e1e233994bb5" /><Relationship Type="http://schemas.openxmlformats.org/officeDocument/2006/relationships/slide" Target="/ppt/slides/slide5.xml" Id="Ra53166433c194748" /><Relationship Type="http://schemas.openxmlformats.org/officeDocument/2006/relationships/slide" Target="/ppt/slides/slide6.xml" Id="R1c004ed355894b4c" /><Relationship Type="http://schemas.openxmlformats.org/officeDocument/2006/relationships/slide" Target="/ppt/slides/slide7.xml" Id="R9e14f2163ed848cd" /><Relationship Type="http://schemas.openxmlformats.org/officeDocument/2006/relationships/slide" Target="/ppt/slides/slide8.xml" Id="R1eaefdc0907b49ec" /><Relationship Type="http://schemas.openxmlformats.org/officeDocument/2006/relationships/slide" Target="/ppt/slides/slide9.xml" Id="R4d4e1a216d7e4d3e" /><Relationship Type="http://schemas.openxmlformats.org/officeDocument/2006/relationships/slide" Target="/ppt/slides/slide10.xml" Id="R10f48fa709704eb1" /><Relationship Type="http://schemas.openxmlformats.org/officeDocument/2006/relationships/slide" Target="/ppt/slides/slide11.xml" Id="R3856799abc934713" /><Relationship Type="http://schemas.openxmlformats.org/officeDocument/2006/relationships/slide" Target="/ppt/slides/slide12.xml" Id="Ra071011768d94871" /><Relationship Type="http://schemas.openxmlformats.org/officeDocument/2006/relationships/slide" Target="/ppt/slides/slide13.xml" Id="Rf04f574c119d41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ce07b366a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1c845916c74009" /><Relationship Type="http://schemas.openxmlformats.org/officeDocument/2006/relationships/notesMaster" Target="/ppt/notesMasters/notesMaster1.xml" Id="Raec895d7df6044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f789157df14520" /><Relationship Type="http://schemas.openxmlformats.org/officeDocument/2006/relationships/notesMaster" Target="/ppt/notesMasters/notesMaster1.xml" Id="R47f641be8fc845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c57e4ff6104811" /><Relationship Type="http://schemas.openxmlformats.org/officeDocument/2006/relationships/notesMaster" Target="/ppt/notesMasters/notesMaster1.xml" Id="R1273d4d41e5c46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d6d993cde64682" /><Relationship Type="http://schemas.openxmlformats.org/officeDocument/2006/relationships/notesMaster" Target="/ppt/notesMasters/notesMaster1.xml" Id="R6f5e0a37b4d440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f05b3e1bbc4c07" /><Relationship Type="http://schemas.openxmlformats.org/officeDocument/2006/relationships/notesMaster" Target="/ppt/notesMasters/notesMaster1.xml" Id="R7a9669d43f14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4c08e7c1664666" /><Relationship Type="http://schemas.openxmlformats.org/officeDocument/2006/relationships/notesMaster" Target="/ppt/notesMasters/notesMaster1.xml" Id="R083faa2595b940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0f2bec92254a88" /><Relationship Type="http://schemas.openxmlformats.org/officeDocument/2006/relationships/notesMaster" Target="/ppt/notesMasters/notesMaster1.xml" Id="R1e736c28cb764c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69ac35aa4c4cad" /><Relationship Type="http://schemas.openxmlformats.org/officeDocument/2006/relationships/notesMaster" Target="/ppt/notesMasters/notesMaster1.xml" Id="Rfdd7621e2e8345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0462521cc24bc9" /><Relationship Type="http://schemas.openxmlformats.org/officeDocument/2006/relationships/notesMaster" Target="/ppt/notesMasters/notesMaster1.xml" Id="R85206973d32c48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9f5d63a8b1436a" /><Relationship Type="http://schemas.openxmlformats.org/officeDocument/2006/relationships/notesMaster" Target="/ppt/notesMasters/notesMaster1.xml" Id="R591c616b758043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2b422535e640ca" /><Relationship Type="http://schemas.openxmlformats.org/officeDocument/2006/relationships/notesMaster" Target="/ppt/notesMasters/notesMaster1.xml" Id="Rb7a7feaa60b142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baadd104a45ba" /><Relationship Type="http://schemas.openxmlformats.org/officeDocument/2006/relationships/notesMaster" Target="/ppt/notesMasters/notesMaster1.xml" Id="Ra7e13fdf9e6e46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514c7c6ee7469e" /><Relationship Type="http://schemas.openxmlformats.org/officeDocument/2006/relationships/notesMaster" Target="/ppt/notesMasters/notesMaster1.xml" Id="Rf386e1b12385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演讲稿（15 秒）</a:t>
            </a:r>
          </a:p>
          <a:p xmlns:a="http://schemas.openxmlformats.org/drawingml/2006/main">
            <a:r>
              <a:t>大家好，我们是 AAA罗德岛工程部。我们做的 CampusMate，是一个面向大学生日常学习的 AI 工作台。它把课程、作业、邮件和日程接在一起，帮助我们看清接下来要做什么。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video/src/film.json</a:t>
            </a:r>
          </a:p>
          <a:p xmlns:a="http://schemas.openxmlformats.org/drawingml/2006/main">
            <a:r>
              <a:t>docs/BRAND.md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演讲稿（25 秒）</a:t>
            </a:r>
          </a:p>
          <a:p xmlns:a="http://schemas.openxmlformats.org/drawingml/2006/main">
            <a:r>
              <a:t>一个普通的学习周里，我们要去教务系统找课表，在 Blackboard 找课件，到 Gradescope 查作业，再从邮箱和 Piazza 追通知。真正耗费注意力的是，把这些信息重新拼成自己的安排。所以我们先解决一个具体问题：打开一个地方，知道本周先做什么，以及判断的依据在哪里。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modules/courses/README.md</a:t>
            </a:r>
          </a:p>
          <a:p xmlns:a="http://schemas.openxmlformats.org/drawingml/2006/main">
            <a:r>
              <a:t>modules/assignments/README.md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演讲稿（35 秒）</a:t>
            </a:r>
          </a:p>
          <a:p xmlns:a="http://schemas.openxmlformats.org/drawingml/2006/main">
            <a:r>
              <a:t>课程中心按课程代码和学期关联不同平台，也支持手动关联。进入同一门课，就能看到可用的资料、作业、讨论和录播，不必再记住内容发在哪个平台。作业管理把截止和来源放在一起，并区分草稿、提交、评分等状态。来源没有确认的信息会保留待核实，避免把已经交过的作业反复提醒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modules/courses/README.md</a:t>
            </a:r>
          </a:p>
          <a:p xmlns:a="http://schemas.openxmlformats.org/drawingml/2006/main">
            <a:r>
              <a:t>modules/courses/server/catalog.py</a:t>
            </a:r>
          </a:p>
          <a:p xmlns:a="http://schemas.openxmlformats.org/drawingml/2006/main">
            <a:r>
              <a:t>modules/courses/server/context.py</a:t>
            </a:r>
          </a:p>
          <a:p xmlns:a="http://schemas.openxmlformats.org/drawingml/2006/main">
            <a:r>
              <a:t>modules/assignments/README.md</a:t>
            </a:r>
          </a:p>
          <a:p xmlns:a="http://schemas.openxmlformats.org/drawingml/2006/main">
            <a:r>
              <a:t>https://github.com/David-goldenman/Shanghaitech-2026-Hackthon/pull/52</a:t>
            </a:r>
          </a:p>
          <a:p xmlns:a="http://schemas.openxmlformats.org/drawingml/2006/main">
            <a:r>
              <a:t>https://github.com/David-goldenman/Shanghaitech-2026-Hackthon/pull/36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演讲稿（35 秒）</a:t>
            </a:r>
          </a:p>
          <a:p xmlns:a="http://schemas.openxmlformats.org/drawingml/2006/main">
            <a:r>
              <a:t>邮箱先用规则初筛，再由 AI 结合年级、在修课程、兴趣和完成状态复核。比如，仍需完成形策的同学，会优先看到原文明确认定考勤的讲座。用户也可以直接写“关注机器人讲座，已结束活动保留摘要”。分类可以展开查看理由和原文，手动调整优先保留；日周总结覆盖最近最多一百封已同步邮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modules/mail/README.md</a:t>
            </a:r>
          </a:p>
          <a:p xmlns:a="http://schemas.openxmlformats.org/drawingml/2006/main">
            <a:r>
              <a:t>modules/mail/server/intelligence.py</a:t>
            </a:r>
          </a:p>
          <a:p xmlns:a="http://schemas.openxmlformats.org/drawingml/2006/main">
            <a:r>
              <a:t>modules/campus-agent/README.md</a:t>
            </a:r>
          </a:p>
          <a:p xmlns:a="http://schemas.openxmlformats.org/drawingml/2006/main">
            <a:r>
              <a:t>https://github.com/David-goldenman/Shanghaitech-2026-Hackthon/pull/34</a:t>
            </a:r>
          </a:p>
          <a:p xmlns:a="http://schemas.openxmlformats.org/drawingml/2006/main">
            <a:r>
              <a:t>https://github.com/David-goldenman/Shanghaitech-2026-Hackthon/pull/44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演讲稿（35 秒）</a:t>
            </a:r>
          </a:p>
          <a:p xmlns:a="http://schemas.openxmlformats.org/drawingml/2006/main">
            <a:r>
              <a:t>当用户说“帮我把下一次形策讲座加入时间表”，助手会先读取通知和课表，再调用本地日程工具，保存成功后返回回执。后台也会关注资料变化，把重要更新放进通知中心；活动需要明确确认参加。时间表同时整合课程、考试、截止和个人安排，支持近四周预览和日历文件导出。加入本地日程后，学校要求的报名仍需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modules/academic-assistant/README.md</a:t>
            </a:r>
          </a:p>
          <a:p xmlns:a="http://schemas.openxmlformats.org/drawingml/2006/main">
            <a:r>
              <a:t>modules/academic-assistant/server/tools.py</a:t>
            </a:r>
          </a:p>
          <a:p xmlns:a="http://schemas.openxmlformats.org/drawingml/2006/main">
            <a:r>
              <a:t>modules/timetable/README.md</a:t>
            </a:r>
          </a:p>
          <a:p xmlns:a="http://schemas.openxmlformats.org/drawingml/2006/main">
            <a:r>
              <a:t>modules/campus-agent/README.md</a:t>
            </a:r>
          </a:p>
          <a:p xmlns:a="http://schemas.openxmlformats.org/drawingml/2006/main">
            <a:r>
              <a:t>video/production/source-data.json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https://github.com/David-goldenman/Shanghaitech-2026-Hackthon/blob/62f7855f33af2f95250463c4bdb1aae214d1ab61/modules/timetable/README.md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演讲稿（40 秒）</a:t>
            </a:r>
          </a:p>
          <a:p xmlns:a="http://schemas.openxmlformats.org/drawingml/2006/main">
            <a:r>
              <a:t>再看一个学习场景：这周作业多，想安排一次条件概率复习。助手先查询作业和截止，再检索这门课的资料，给出先完成哪份作业、何时复习的建议。回答里可以展开 Lecture Slides L2 第五页的原文，并打开来源继续核对。这个页码已经和课件核对过。服务端还会检查引用确实来自本次读取的资料，资料不足时直接说明缺口。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modules/academic-assistant/README.md</a:t>
            </a:r>
          </a:p>
          <a:p xmlns:a="http://schemas.openxmlformats.org/drawingml/2006/main">
            <a:r>
              <a:t>modules/academic-assistant/server/tools.py</a:t>
            </a:r>
          </a:p>
          <a:p xmlns:a="http://schemas.openxmlformats.org/drawingml/2006/main">
            <a:r>
              <a:t>modules/academic-assistant/server/documents.py</a:t>
            </a:r>
          </a:p>
          <a:p xmlns:a="http://schemas.openxmlformats.org/drawingml/2006/main">
            <a:r>
              <a:t>modules/academic-assistant/harness/index.js</a:t>
            </a:r>
          </a:p>
          <a:p xmlns:a="http://schemas.openxmlformats.org/drawingml/2006/main">
            <a:r>
              <a:t>video/production/material-evidence.json</a:t>
            </a:r>
          </a:p>
          <a:p xmlns:a="http://schemas.openxmlformats.org/drawingml/2006/main">
            <a:r>
              <a:t>video/production/dialogues.json</a:t>
            </a:r>
          </a:p>
          <a:p xmlns:a="http://schemas.openxmlformats.org/drawingml/2006/main">
            <a:r>
              <a:t>docs/LIVE_ACCEPTANCE.md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演讲稿（25 秒）</a:t>
            </a:r>
          </a:p>
          <a:p xmlns:a="http://schemas.openxmlformats.org/drawingml/2006/main">
            <a:r>
              <a:t>同样的资料能力也能用于选课。用户说明自己对机器人感兴趣，助手结合已有课程记录和培养方案，继续查询课程目录、教学大纲与先修要求，再讨论学习负担。这样，建议能具体到要核对哪些课程。未来学期是否实际开课，还需要以学校当期目录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modules/academic-assistant/README.md</a:t>
            </a:r>
          </a:p>
          <a:p xmlns:a="http://schemas.openxmlformats.org/drawingml/2006/main">
            <a:r>
              <a:t>modules/eams/README.md</a:t>
            </a:r>
          </a:p>
          <a:p xmlns:a="http://schemas.openxmlformats.org/drawingml/2006/main">
            <a:r>
              <a:t>video/production/curriculum.json</a:t>
            </a:r>
          </a:p>
          <a:p xmlns:a="http://schemas.openxmlformats.org/drawingml/2006/main">
            <a:r>
              <a:t>video/production/dialogues.json</a:t>
            </a:r>
          </a:p>
          <a:p xmlns:a="http://schemas.openxmlformats.org/drawingml/2006/main">
            <a:r>
              <a:t>docs/LIVE_ACCEPTANCE.md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演讲稿（40 秒）</a:t>
            </a:r>
          </a:p>
          <a:p xmlns:a="http://schemas.openxmlformats.org/drawingml/2006/main">
            <a:r>
              <a:t>技术上，我们用 FastAPI 和原生前端搭建统一工作台，目前集成十九个独立模块。共享服务管理学校登录、模型和本机加密凭据，模块通过公开 API 协作。AI 使用官方 DeepSeek Harness 原生插件，按问题调用工具读取资料。返回结果时，服务端校验原文引用和账号版本；涉及修改，还要检查明确意愿并保留回执。所需学习资料会发送到用户选择的模型服务。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docs/MODULES.md</a:t>
            </a:r>
          </a:p>
          <a:p xmlns:a="http://schemas.openxmlformats.org/drawingml/2006/main">
            <a:r>
              <a:t>docs/AI.md</a:t>
            </a:r>
          </a:p>
          <a:p xmlns:a="http://schemas.openxmlformats.org/drawingml/2006/main">
            <a:r>
              <a:t>backend/core/vault.py</a:t>
            </a:r>
          </a:p>
          <a:p xmlns:a="http://schemas.openxmlformats.org/drawingml/2006/main">
            <a:r>
              <a:t>backend/core/modules.py</a:t>
            </a:r>
          </a:p>
          <a:p xmlns:a="http://schemas.openxmlformats.org/drawingml/2006/main">
            <a:r>
              <a:t>modules/academic-assistant/server/tools.py</a:t>
            </a:r>
          </a:p>
          <a:p xmlns:a="http://schemas.openxmlformats.org/drawingml/2006/main">
            <a:r>
              <a:t>modules/academic-assistant/server/workspace.py</a:t>
            </a:r>
          </a:p>
          <a:p xmlns:a="http://schemas.openxmlformats.org/drawingml/2006/main">
            <a:r>
              <a:t>modules/academic-assistant/harness/index.js</a:t>
            </a:r>
          </a:p>
          <a:p xmlns:a="http://schemas.openxmlformats.org/drawingml/2006/main">
            <a:r>
              <a:t>https://github.com/David-goldenman/Shanghaitech-2026-Hackthon/pull/8</a:t>
            </a:r>
          </a:p>
          <a:p xmlns:a="http://schemas.openxmlformats.org/drawingml/2006/main">
            <a:r>
              <a:t>https://github.com/David-goldenman/Shanghaitech-2026-Hackthon/pull/59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演讲稿（25 秒）</a:t>
            </a:r>
          </a:p>
          <a:p xmlns:a="http://schemas.openxmlformats.org/drawingml/2006/main">
            <a:r>
              <a:t>日程也能带进常用日历。时间表可把近四周课程和作业截止导出为 .ics 文件，保留课程地点和作业提醒，交给支持导入的苹果、安卓或鸿蒙日历。手机网页仍可按天查看安排。外观提供 Nord、观星台、星夜手记和 PRTS 四套主题，并保存选择。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docs/UI_THEME.md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modules/academic-assistant/README.md</a:t>
            </a:r>
          </a:p>
          <a:p xmlns:a="http://schemas.openxmlformats.org/drawingml/2006/main">
            <a:r>
              <a:t>video/production/brief.md</a:t>
            </a:r>
          </a:p>
          <a:p xmlns:a="http://schemas.openxmlformats.org/drawingml/2006/main">
            <a:r>
              <a:t>https://github.com/David-goldenman/Shanghaitech-2026-Hackthon/pull/43</a:t>
            </a:r>
          </a:p>
          <a:p xmlns:a="http://schemas.openxmlformats.org/drawingml/2006/main">
            <a:r>
              <a:t>https://github.com/David-goldenman/Shanghaitech-2026-Hackthon/pull/45</a:t>
            </a:r>
          </a:p>
          <a:p xmlns:a="http://schemas.openxmlformats.org/drawingml/2006/main">
            <a:r>
              <a:t>https://github.com/David-goldenman/Shanghaitech-2026-Hackthon/pull/53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https://github.com/David-goldenman/Shanghaitech-2026-Hackthon/blob/62f7855f33af2f95250463c4bdb1aae214d1ab61/modules/timetable/README.md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https://github.com/David-goldenman/Shanghaitech-2026-Hackthon/blob/62f7855f33af2f95250463c4bdb1aae214d1ab61/modules/timetable/server/ical.py</a:t>
            </a:r>
            <a:endParaRPr/>
          </a:p>
          <a:p xmlns:a="http://schemas.openxmlformats.org/drawingml/2006/main">
            <a:r>
              <a:t>https://github.com/David-goldenman/Shanghaitech-2026-Hackthon/commit/c9d4d85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演讲稿（25 秒）</a:t>
            </a:r>
          </a:p>
          <a:p xmlns:a="http://schemas.openxmlformats.org/drawingml/2006/main">
            <a:r>
              <a:t>现在，校园来源读取和带引用问答已有真实账号验收，本地日程操作也通过了隔离验证。接下来，我们会扩大真实课程场景试用，继续完善地图和课程群消息接入。我们希望，打开 CampusMate，就能把分散的信息整理成每天可以执行的学习安排。谢谢大家。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docs/LIVE_ACCEPTANCE.md</a:t>
            </a:r>
          </a:p>
          <a:p xmlns:a="http://schemas.openxmlformats.org/drawingml/2006/main">
            <a:r>
              <a:t>video/src/film.json</a:t>
            </a:r>
          </a:p>
          <a:p xmlns:a="http://schemas.openxmlformats.org/drawingml/2006/main">
            <a:r>
              <a:t>modules/campus-map/README.md</a:t>
            </a:r>
          </a:p>
          <a:p xmlns:a="http://schemas.openxmlformats.org/drawingml/2006/main">
            <a:r>
              <a:t>modules/group-messages/README.md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答辩补充</a:t>
            </a:r>
          </a:p>
          <a:p xmlns:a="http://schemas.openxmlformats.org/drawingml/2006/main">
            <a:r>
              <a:t>按评委关注的模块补充说明。课程关联以代码和学期为依据，手动关联优先。作业本地完成进度与原站提交状态分开。邮件总结仅覆盖当前同步范围。时间表本地调课不办理学校审批。扫描件支持可选识图或本地 OCR，识别效果仍需核验。近四周课程课表与作业截止可导出为 .ics 文件，包含地点与提醒，交给提供导入入口的日历应用。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modules/courses/README.md</a:t>
            </a:r>
          </a:p>
          <a:p xmlns:a="http://schemas.openxmlformats.org/drawingml/2006/main">
            <a:r>
              <a:t>modules/mail/README.md</a:t>
            </a:r>
          </a:p>
          <a:p xmlns:a="http://schemas.openxmlformats.org/drawingml/2006/main">
            <a:r>
              <a:t>modules/timetable/README.md</a:t>
            </a:r>
          </a:p>
          <a:p xmlns:a="http://schemas.openxmlformats.org/drawingml/2006/main">
            <a:r>
              <a:t>modules/academic-assistant/README.md</a:t>
            </a:r>
          </a:p>
          <a:p xmlns:a="http://schemas.openxmlformats.org/drawingml/2006/main">
            <a:r>
              <a:t>docs/DOCUMENT_READING.md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https://github.com/David-goldenman/Shanghaitech-2026-Hackthon/blob/62f7855f33af2f95250463c4bdb1aae214d1ab61/modules/timetable/README.md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答辩补充</a:t>
            </a:r>
          </a:p>
          <a:p xmlns:a="http://schemas.openxmlformats.org/drawingml/2006/main">
            <a:r>
              <a:t>真实验收记录日期为 2026 年 10 月 16 至 17 日。教务课表、Blackboard、Gradescope、Coremail、ELRC、Piazza 均有基础同步验收记录，其中会话恢复和重启在记录列出的来源中验证。已有真实模型的作业规划、PDF 页级读取和选课建议记录。PPT 界面采用隔离演示数据，复习与选课回答为已核对素材的示例。PPTX 页序、账号切换等采用合成回归。没有用该演示宣称全校覆盖、所有附件读取或学习成效提升。2026 年 10 月 18 日核对远程提交 62f7855f33af2f95250463c4bdb1aae214d1ab61，日历导出结构、微信主实例识别和 QQ 连接诊断的合成检查通过；手机日历导入与提醒行为仍需相应设备验收。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docs/LIVE_ACCEPTANCE.md</a:t>
            </a:r>
          </a:p>
          <a:p xmlns:a="http://schemas.openxmlformats.org/drawingml/2006/main">
            <a:r>
              <a:t>modules/academic-assistant/checks/LIVE_ACCEPTANCE.md</a:t>
            </a:r>
          </a:p>
          <a:p xmlns:a="http://schemas.openxmlformats.org/drawingml/2006/main">
            <a:r>
              <a:t>video/production/brief.md</a:t>
            </a:r>
          </a:p>
          <a:p xmlns:a="http://schemas.openxmlformats.org/drawingml/2006/main">
            <a:r>
              <a:t>video/production/sources.md</a:t>
            </a:r>
          </a:p>
          <a:p xmlns:a="http://schemas.openxmlformats.org/drawingml/2006/main">
            <a:r>
              <a:t>video/production/material-evidence.json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https://github.com/David-goldenman/Shanghaitech-2026-Hackthon/blob/62f7855f33af2f95250463c4bdb1aae214d1ab61/modules/timetable/checks/check_timetable.py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https://github.com/David-goldenman/Shanghaitech-2026-Hackthon/blob/62f7855f33af2f95250463c4bdb1aae214d1ab61/modules/group-messages/checks/check_discovery.py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https://github.com/David-goldenman/Shanghaitech-2026-Hackthon/blob/62f7855f33af2f95250463c4bdb1aae214d1ab61/modules/group-messages/checks/check_qq_connection.py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答辩补充</a:t>
            </a:r>
          </a:p>
          <a:p xmlns:a="http://schemas.openxmlformats.org/drawingml/2006/main">
            <a:r>
              <a:t>地图提供建筑定位、当天课程地点与室外步行路线试用。路线使用已收录路网，入口、临时通行和无障碍条件需要现场核验。微信群为本人 Windows 微信本机只读采集，QQ 依赖本人本机的 OneBot 服务；支持选群、课程绑定、原文引用、确认与撤销。目前主项目的真实课程群增量验收待完成，QQ 每群每轮读取最近最多一百条，可能存在历史缺口。微信检测按本人主实例选择，过滤辅助进程；QQ 提供三步配置引导，区分接口不可达、口令验证、地址不匹配与未登录状态。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modules/campus-map/README.md</a:t>
            </a:r>
          </a:p>
          <a:p xmlns:a="http://schemas.openxmlformats.org/drawingml/2006/main">
            <a:r>
              <a:t>modules/group-messages/README.md</a:t>
            </a:r>
          </a:p>
          <a:p xmlns:a="http://schemas.openxmlformats.org/drawingml/2006/main">
            <a:r>
              <a:t>https://github.com/David-goldenman/Shanghaitech-2026-Hackthon/pull/51</a:t>
            </a:r>
          </a:p>
          <a:p xmlns:a="http://schemas.openxmlformats.org/drawingml/2006/main">
            <a:r>
              <a:t>https://github.com/David-goldenman/Shanghaitech-2026-Hackthon/pull/60</a:t>
            </a:r>
          </a:p>
          <a:p xmlns:a="http://schemas.openxmlformats.org/drawingml/2006/main">
            <a:r>
              <a:t>video/production/sources.md</a:t>
            </a:r>
            <a:endParaRPr/>
          </a:p>
          <a:p xmlns:a="http://schemas.openxmlformats.org/drawingml/2006/main">
            <a:r>
              <a:t>https://github.com/David-goldenman/Shanghaitech-2026-Hackthon/pull/66</a:t>
            </a:r>
            <a:endParaRPr/>
          </a:p>
          <a:p xmlns:a="http://schemas.openxmlformats.org/drawingml/2006/main">
            <a:r>
              <a:t>https://github.com/David-goldenman/Shanghaitech-2026-Hackthon/pull/67</a:t>
            </a:r>
            <a:endParaRPr/>
          </a:p>
          <a:p xmlns:a="http://schemas.openxmlformats.org/drawingml/2006/main">
            <a:r>
              <a:t>https://github.com/David-goldenman/Shanghaitech-2026-Hackthon/blob/62f7855f33af2f95250463c4bdb1aae214d1ab61/modules/group-messages/README.md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6f9b09bf446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3a935c0064e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9c96f309644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d2ef914f84b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b18d6589648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68d18bcac4ba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5ca4838894e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c56d67eee4e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f2a0205a6451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5d35fc70645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cfdd4b9ae42a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494B86-922A-3108-A8C1-1168CC8975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B9EE03C-8CDD-A017-1100-8AB56A3B78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7912F8-8EB7-C6D0-A56F-509A3F7DCB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E4A9B9-12AF-00C8-585F-0902CE36FE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7105286-AB36-2929-01E0-2706637F33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64C1EA-A97A-D5AE-4070-6314AA52B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4B4BC51-4BAC-6C3A-5C3F-4C7D80CF21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7C0D945-A65A-4938-6FA9-4A9F559220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8E5D9A-C132-F32A-FBD9-F63B171E8A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33D9275-C113-1AB0-4659-8F28882EB9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A6EBAE-A3CD-B5F1-BCFF-9215931B4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ACB2AD8-44AD-424F-2E29-F328AE5E9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B60EE7-79E3-7568-AD61-0916384EE7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3C31E78-42ED-B8DD-4D50-8B4E9B3000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8D9750-16BC-16EC-DA38-C376161783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7F704F-93DA-0EE7-4531-3A6420080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FEA20A8-4566-B902-BCB9-E2C4DDC1DB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E5554E7-6719-87DE-9328-4B92F65013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67D11AD-9AE7-43B0-8660-42213172A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3BCF256-B377-BA7D-B705-A546BB83E2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54B91B2-FCDB-6929-5909-B648E3BA39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E8AD7A-4D1D-DBB2-96A3-148E832BD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0851364-65FB-11D4-3015-11E2CD3F07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09771B5-C477-18D1-8451-5549C4B4AA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2E25D03-1C0C-654A-5AD2-AAC0CA6FA4F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4C304E5-90FF-4237-23DB-CB17E6345A2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088E38C-2AFD-002E-33D4-8136F552A1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493B9A2-75FF-6838-8330-4A1BA36A6E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4C919FC-D342-EB61-D4F7-EF417CF14D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273E88-37F3-1259-FF86-F8CDFAAC87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284586F-535D-75DC-7A23-17DD2556BC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631B129-3D98-B19B-8708-EE25D8A327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BB601C3-2676-D308-D395-163D385D04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06EB72A-F9AC-DEA1-D137-EC5F8D54CA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F0A2D53-C533-5465-6718-A3D59060BF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B9183BA-59A5-B312-95A7-DE53819B96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65CA165-F74F-09C0-28D4-60F112E56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1DD36B-925C-AEB0-FEE3-32061C4529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2C77594-527D-65D5-2A24-FDEB990608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1F1B43F-E179-3CD9-B06C-0972DB425B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562F2E2-5C9B-AD16-6D70-4DD285C84B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7F62DDA-5DC0-09E2-8D7D-0974650CEA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F8672C-467D-7CEC-F236-4CA53D476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CAB35D5-D4C4-F621-6C87-C778159F16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E204853-397D-C344-2644-4F4B6644CF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7FCFDCD-21BE-AEBD-3EAD-F896641EBE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82131F7-894A-257E-997F-980FB30F56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88AF5EE-26DA-3B3F-7290-27AEBF46C3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1C94F1-ABA8-03C1-C8C9-7E9133266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B4283D2-4893-E7E4-298A-54E33CB347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FE05F12-81D7-A403-C40C-3383D424AE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73E1733-5063-4CD0-AD4A-328D7BD8E1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86A0A2-BA66-FA55-96D7-A392AB60E8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E541E24-7050-EF06-7148-0E74D4154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D2EBC0C-EACE-19A1-BDB1-A58E018C67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55E145D-CF34-201D-12DF-6E43DB003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58B67F-4C7A-D0B4-7102-5D5AB6D027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C822F05-9848-2E5C-B158-7657D4729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843df5ec346c7" /><Relationship Type="http://schemas.openxmlformats.org/officeDocument/2006/relationships/slideLayout" Target="/ppt/slideLayouts/slideLayout1.xml" Id="R7ae9a16a1bd64155" /><Relationship Type="http://schemas.openxmlformats.org/officeDocument/2006/relationships/slideLayout" Target="/ppt/slideLayouts/slideLayout2.xml" Id="R9d41380946fd4621" /><Relationship Type="http://schemas.openxmlformats.org/officeDocument/2006/relationships/slideLayout" Target="/ppt/slideLayouts/slideLayout3.xml" Id="R9867fa79a4df45d6" /><Relationship Type="http://schemas.openxmlformats.org/officeDocument/2006/relationships/slideLayout" Target="/ppt/slideLayouts/slideLayout4.xml" Id="R652401d973674b40" /><Relationship Type="http://schemas.openxmlformats.org/officeDocument/2006/relationships/slideLayout" Target="/ppt/slideLayouts/slideLayout5.xml" Id="Re5b0b998e43f4c0c" /><Relationship Type="http://schemas.openxmlformats.org/officeDocument/2006/relationships/slideLayout" Target="/ppt/slideLayouts/slideLayout6.xml" Id="R30223cc56dd24a3d" /><Relationship Type="http://schemas.openxmlformats.org/officeDocument/2006/relationships/slideLayout" Target="/ppt/slideLayouts/slideLayout7.xml" Id="R32bd568fbc224944" /><Relationship Type="http://schemas.openxmlformats.org/officeDocument/2006/relationships/slideLayout" Target="/ppt/slideLayouts/slideLayout8.xml" Id="R75160ccbd6a5452a" /><Relationship Type="http://schemas.openxmlformats.org/officeDocument/2006/relationships/slideLayout" Target="/ppt/slideLayouts/slideLayout9.xml" Id="Rc61fe2a746c24803" /><Relationship Type="http://schemas.openxmlformats.org/officeDocument/2006/relationships/slideLayout" Target="/ppt/slideLayouts/slideLayout10.xml" Id="R1f10bbd9bcaa465f" /><Relationship Type="http://schemas.openxmlformats.org/officeDocument/2006/relationships/slideLayout" Target="/ppt/slideLayouts/slideLayout11.xml" Id="Ree7c1e163cfb4d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C895D4-A4E7-73E1-B537-3C10F68E5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D85555-2636-F3D4-F1B5-3AFF83B7D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353204-C28D-934E-6FC7-A3E94F64928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E763B4E-7138-495A-B623-32972CEC8160}" type="datetimeFigureOut">
              <a:t>2026/10/18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C31AE43-38C8-D906-C67F-576E3EF40D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E8CBBF-8D33-9728-402A-7D593ED54B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2450000-B4F4-44B0-B5E5-15D812570E7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9a16a1bd64155"/>
    <p:sldLayoutId xmlns:r="http://schemas.openxmlformats.org/officeDocument/2006/relationships" id="2147483650" r:id="R9d41380946fd4621"/>
    <p:sldLayoutId xmlns:r="http://schemas.openxmlformats.org/officeDocument/2006/relationships" id="2147483651" r:id="R9867fa79a4df45d6"/>
    <p:sldLayoutId xmlns:r="http://schemas.openxmlformats.org/officeDocument/2006/relationships" id="2147483652" r:id="R652401d973674b40"/>
    <p:sldLayoutId xmlns:r="http://schemas.openxmlformats.org/officeDocument/2006/relationships" id="2147483653" r:id="Re5b0b998e43f4c0c"/>
    <p:sldLayoutId xmlns:r="http://schemas.openxmlformats.org/officeDocument/2006/relationships" id="2147483654" r:id="R30223cc56dd24a3d"/>
    <p:sldLayoutId xmlns:r="http://schemas.openxmlformats.org/officeDocument/2006/relationships" id="2147483655" r:id="R32bd568fbc224944"/>
    <p:sldLayoutId xmlns:r="http://schemas.openxmlformats.org/officeDocument/2006/relationships" id="2147483656" r:id="R75160ccbd6a5452a"/>
    <p:sldLayoutId xmlns:r="http://schemas.openxmlformats.org/officeDocument/2006/relationships" id="2147483657" r:id="Rc61fe2a746c24803"/>
    <p:sldLayoutId xmlns:r="http://schemas.openxmlformats.org/officeDocument/2006/relationships" id="2147483658" r:id="R1f10bbd9bcaa465f"/>
    <p:sldLayoutId xmlns:r="http://schemas.openxmlformats.org/officeDocument/2006/relationships" id="2147483659" r:id="Ree7c1e163cfb4d9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c8e7fdbec8427e" /><Relationship Type="http://schemas.openxmlformats.org/officeDocument/2006/relationships/image" Target="/ppt/media/image.png" Id="R0e6ed4143329428a" /><Relationship Type="http://schemas.openxmlformats.org/officeDocument/2006/relationships/image" Target="/ppt/media/image2.png" Id="R2ae82326e2e448ab" /><Relationship Type="http://schemas.openxmlformats.org/officeDocument/2006/relationships/notesSlide" Target="/ppt/notesSlides/notesSlide1.xml" Id="R9d2e45928d1549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a26f436186492e" /><Relationship Type="http://schemas.openxmlformats.org/officeDocument/2006/relationships/notesSlide" Target="/ppt/notesSlides/notesSlide2.xml" Id="R32aba0af898741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1c7d20f0d845f6" /><Relationship Type="http://schemas.openxmlformats.org/officeDocument/2006/relationships/image" Target="/ppt/media/image3.png" Id="R28ff994968ea4e28" /><Relationship Type="http://schemas.openxmlformats.org/officeDocument/2006/relationships/image" Target="/ppt/media/image4.png" Id="Rded505689d4f4792" /><Relationship Type="http://schemas.openxmlformats.org/officeDocument/2006/relationships/notesSlide" Target="/ppt/notesSlides/notesSlide3.xml" Id="Ra82d6127daa140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3fa754463c47eb" /><Relationship Type="http://schemas.openxmlformats.org/officeDocument/2006/relationships/image" Target="/ppt/media/image5.png" Id="Rce0f62cb61504397" /><Relationship Type="http://schemas.openxmlformats.org/officeDocument/2006/relationships/notesSlide" Target="/ppt/notesSlides/notesSlide4.xml" Id="R1086c5c2d1ef41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818f71caaf4547" /><Relationship Type="http://schemas.openxmlformats.org/officeDocument/2006/relationships/image" Target="/ppt/media/image6.png" Id="R375a368cb92f4a55" /><Relationship Type="http://schemas.openxmlformats.org/officeDocument/2006/relationships/notesSlide" Target="/ppt/notesSlides/notesSlide5.xml" Id="R76c94aa6c413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5d4249ae7f488c" /><Relationship Type="http://schemas.openxmlformats.org/officeDocument/2006/relationships/image" Target="/ppt/media/image7.png" Id="R33b1277180dd47c7" /><Relationship Type="http://schemas.openxmlformats.org/officeDocument/2006/relationships/notesSlide" Target="/ppt/notesSlides/notesSlide6.xml" Id="R63f8077d13194e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c528f60f3743a3" /><Relationship Type="http://schemas.openxmlformats.org/officeDocument/2006/relationships/image" Target="/ppt/media/image8.png" Id="Rf3e3623ec6f741da" /><Relationship Type="http://schemas.openxmlformats.org/officeDocument/2006/relationships/notesSlide" Target="/ppt/notesSlides/notesSlide7.xml" Id="R28808ae93b0c43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28285879fe4479" /><Relationship Type="http://schemas.openxmlformats.org/officeDocument/2006/relationships/notesSlide" Target="/ppt/notesSlides/notesSlide8.xml" Id="R976dd91d9f8d48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86892f677a4fc9" /><Relationship Type="http://schemas.openxmlformats.org/officeDocument/2006/relationships/image" Target="/ppt/media/image9.png" Id="Reacfd61a82544215" /><Relationship Type="http://schemas.openxmlformats.org/officeDocument/2006/relationships/image" Target="/ppt/media/image10.png" Id="R613871e07c714ecf" /><Relationship Type="http://schemas.openxmlformats.org/officeDocument/2006/relationships/image" Target="/ppt/media/image11.png" Id="R0efebdd4890f42b4" /><Relationship Type="http://schemas.openxmlformats.org/officeDocument/2006/relationships/image" Target="/ppt/media/image12.png" Id="Rc435330ff4ab41f6" /><Relationship Type="http://schemas.openxmlformats.org/officeDocument/2006/relationships/notesSlide" Target="/ppt/notesSlides/notesSlide9.xml" Id="Re67fb43e78354e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9e01e59b1b491e" /><Relationship Type="http://schemas.openxmlformats.org/officeDocument/2006/relationships/notesSlide" Target="/ppt/notesSlides/notesSlide10.xml" Id="Rb5ca521d6b6243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247243bd8540b9" /><Relationship Type="http://schemas.openxmlformats.org/officeDocument/2006/relationships/notesSlide" Target="/ppt/notesSlides/notesSlide11.xml" Id="Rea902a372d4643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b9fbd43d174710" /><Relationship Type="http://schemas.openxmlformats.org/officeDocument/2006/relationships/notesSlide" Target="/ppt/notesSlides/notesSlide12.xml" Id="R7e1057678ac240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46afab188948c9" /><Relationship Type="http://schemas.openxmlformats.org/officeDocument/2006/relationships/image" Target="/ppt/media/image13.png" Id="R856f555d715c42b2" /><Relationship Type="http://schemas.openxmlformats.org/officeDocument/2006/relationships/image" Target="/ppt/media/image14.png" Id="R2933f9c8db9f4f2e" /><Relationship Type="http://schemas.openxmlformats.org/officeDocument/2006/relationships/notesSlide" Target="/ppt/notesSlides/notesSlide13.xml" Id="Rb1c945a905a44b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E3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 1">
            <a:extLst xmlns:a="http://schemas.openxmlformats.org/drawingml/2006/main">
              <a:ext uri="{FF2B5EF4-FFF2-40B4-BE49-F238E27FC236}">
                <a16:creationId xmlns:a16="http://schemas.microsoft.com/office/drawing/2014/main" id="{8005E0DE-E3EA-BAB6-8D11-C8B4952F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6150" b="1">
                <a:solidFill>
                  <a:srgbClr val="ECEFF4"/>
                </a:solidFill>
                <a:latin typeface="Bahnschrift"/>
                <a:ea typeface="Bahnschrift"/>
                <a:cs typeface="Bahnschrift"/>
              </a:rPr>
              <a:t>CampusMate</a:t>
            </a:r>
            <a:endParaRPr sz="6150" b="1">
              <a:solidFill>
                <a:srgbClr val="ECEFF4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3" name="Text 1 2">
            <a:extLst xmlns:a="http://schemas.openxmlformats.org/drawingml/2006/main">
              <a:ext uri="{FF2B5EF4-FFF2-40B4-BE49-F238E27FC236}">
                <a16:creationId xmlns:a16="http://schemas.microsoft.com/office/drawing/2014/main" id="{823A1BC1-C950-250B-372E-83014C1D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775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面向大学生日常学习的</a:t>
            </a:r>
            <a:br>
              <a:rPr sz="2775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</a:br>
            <a:r>
              <a:rPr sz="2775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2775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4" name="Text 1 3">
            <a:extLst xmlns:a="http://schemas.openxmlformats.org/drawingml/2006/main">
              <a:ext uri="{FF2B5EF4-FFF2-40B4-BE49-F238E27FC236}">
                <a16:creationId xmlns:a16="http://schemas.microsoft.com/office/drawing/2014/main" id="{0F3FCF2F-39C7-5ECF-231E-38068B6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88C0D0"/>
                </a:solidFill>
                <a:latin typeface="Microsoft YaHei"/>
                <a:ea typeface="Microsoft YaHei"/>
                <a:cs typeface="Microsoft YaHei"/>
              </a:rPr>
              <a:t>AAA</a:t>
            </a:r>
            <a:r>
              <a:rPr sz="1875">
                <a:solidFill>
                  <a:srgbClr val="88C0D0"/>
                </a:solidFill>
                <a:latin typeface="Microsoft YaHei"/>
                <a:ea typeface="Microsoft YaHei"/>
                <a:cs typeface="Microsoft YaHei"/>
              </a:rPr>
              <a:t>罗德岛工程部</a:t>
            </a:r>
          </a:p>
        </p:txBody>
      </p:sp>
      <p:pic>
        <p:nvPicPr>
          <p:cNvPr id="6" name="Image 1 campusmate-app-icon">
            <a:extLst xmlns:a="http://schemas.openxmlformats.org/drawingml/2006/main">
              <a:ext uri="{FF2B5EF4-FFF2-40B4-BE49-F238E27FC236}">
                <a16:creationId xmlns:a16="http://schemas.microsoft.com/office/drawing/2014/main" id="{A2987402-CFD5-42AD-94A3-00168A704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ed414332942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695325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8" name="Image 1 home-420-235-2440-1490">
            <a:extLst xmlns:a="http://schemas.openxmlformats.org/drawingml/2006/main">
              <a:ext uri="{FF2B5EF4-FFF2-40B4-BE49-F238E27FC236}">
                <a16:creationId xmlns:a16="http://schemas.microsoft.com/office/drawing/2014/main" id="{A69DE0DA-BD26-49F3-833E-4A9EC6A49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82326e2e448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9803"/>
            <a:ext cx="5886450" cy="3594595"/>
          </a:xfrm>
          <a:prstGeom xmlns:a="http://schemas.openxmlformats.org/drawingml/2006/main" prst="rect">
            <a:avLst/>
          </a:prstGeom>
        </p:spPr>
      </p:pic>
      <p:sp>
        <p:nvSpPr>
          <p:cNvPr id="9" name="Text 1 6">
            <a:extLst xmlns:a="http://schemas.openxmlformats.org/drawingml/2006/main">
              <a:ext uri="{FF2B5EF4-FFF2-40B4-BE49-F238E27FC236}">
                <a16:creationId xmlns:a16="http://schemas.microsoft.com/office/drawing/2014/main" id="{94938AA3-15BC-3201-C052-AB196B88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ShanghaiTech Hackathon 2026</a:t>
            </a:r>
            <a:endParaRPr sz="1350">
              <a:solidFill>
                <a:srgbClr val="D8DEE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 7">
            <a:extLst xmlns:a="http://schemas.openxmlformats.org/drawingml/2006/main">
              <a:ext uri="{FF2B5EF4-FFF2-40B4-BE49-F238E27FC236}">
                <a16:creationId xmlns:a16="http://schemas.microsoft.com/office/drawing/2014/main" id="{9B1E22C3-47F1-6534-2E66-5E3F1941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D8DEE9"/>
                </a:solidFill>
                <a:latin typeface="Bahnschrift"/>
                <a:ea typeface="Bahnschrift"/>
                <a:cs typeface="Bahnschrift"/>
              </a:rPr>
              <a:t>01 / 10</a:t>
            </a:r>
            <a:endParaRPr sz="1200">
              <a:solidFill>
                <a:srgbClr val="D8DEE9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303656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 1">
            <a:extLst xmlns:a="http://schemas.openxmlformats.org/drawingml/2006/main">
              <a:ext uri="{FF2B5EF4-FFF2-40B4-BE49-F238E27FC236}">
                <a16:creationId xmlns:a16="http://schemas.microsoft.com/office/drawing/2014/main" id="{841586F9-3C6B-3502-3D6B-BD30542B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一个学习任务，分散在多个入口</a:t>
            </a:r>
          </a:p>
        </p:txBody>
      </p:sp>
      <p:sp>
        <p:nvSpPr>
          <p:cNvPr id="3" name="Text 2 2">
            <a:extLst xmlns:a="http://schemas.openxmlformats.org/drawingml/2006/main">
              <a:ext uri="{FF2B5EF4-FFF2-40B4-BE49-F238E27FC236}">
                <a16:creationId xmlns:a16="http://schemas.microsoft.com/office/drawing/2014/main" id="{7E6168B9-3BEF-14A6-AE5F-B6BED65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教务系统</a:t>
            </a:r>
          </a:p>
        </p:txBody>
      </p:sp>
      <p:sp>
        <p:nvSpPr>
          <p:cNvPr id="4" name="Text 2 3">
            <a:extLst xmlns:a="http://schemas.openxmlformats.org/drawingml/2006/main">
              <a:ext uri="{FF2B5EF4-FFF2-40B4-BE49-F238E27FC236}">
                <a16:creationId xmlns:a16="http://schemas.microsoft.com/office/drawing/2014/main" id="{565BCE59-EBCA-D4A3-FED1-DBF7A11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0274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上课、考试与培养方案</a:t>
            </a:r>
          </a:p>
        </p:txBody>
      </p:sp>
      <p:sp>
        <p:nvSpPr>
          <p:cNvPr id="5" name="Text 2 4">
            <a:extLst xmlns:a="http://schemas.openxmlformats.org/drawingml/2006/main">
              <a:ext uri="{FF2B5EF4-FFF2-40B4-BE49-F238E27FC236}">
                <a16:creationId xmlns:a16="http://schemas.microsoft.com/office/drawing/2014/main" id="{52E9964B-F96A-D6EC-BC27-5D1BBE81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Blackboard</a:t>
            </a:r>
            <a:endParaRPr sz="2400" b="1">
              <a:solidFill>
                <a:srgbClr val="5E81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2 5">
            <a:extLst xmlns:a="http://schemas.openxmlformats.org/drawingml/2006/main">
              <a:ext uri="{FF2B5EF4-FFF2-40B4-BE49-F238E27FC236}">
                <a16:creationId xmlns:a16="http://schemas.microsoft.com/office/drawing/2014/main" id="{8B89E4F6-E8B3-185C-14E1-6F858827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4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课件与作业</a:t>
            </a:r>
          </a:p>
        </p:txBody>
      </p:sp>
      <p:sp>
        <p:nvSpPr>
          <p:cNvPr id="7" name="Text 2 6">
            <a:extLst xmlns:a="http://schemas.openxmlformats.org/drawingml/2006/main">
              <a:ext uri="{FF2B5EF4-FFF2-40B4-BE49-F238E27FC236}">
                <a16:creationId xmlns:a16="http://schemas.microsoft.com/office/drawing/2014/main" id="{E100ADEE-DF67-B54C-1B48-287E628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Gradescope</a:t>
            </a:r>
            <a:endParaRPr sz="2400" b="1">
              <a:solidFill>
                <a:srgbClr val="5E81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2 7">
            <a:extLst xmlns:a="http://schemas.openxmlformats.org/drawingml/2006/main">
              <a:ext uri="{FF2B5EF4-FFF2-40B4-BE49-F238E27FC236}">
                <a16:creationId xmlns:a16="http://schemas.microsoft.com/office/drawing/2014/main" id="{536277F5-404B-530F-9317-7B859E0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4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提交与反馈</a:t>
            </a:r>
          </a:p>
        </p:txBody>
      </p:sp>
      <p:sp>
        <p:nvSpPr>
          <p:cNvPr id="9" name="Text 2 8">
            <a:extLst xmlns:a="http://schemas.openxmlformats.org/drawingml/2006/main">
              <a:ext uri="{FF2B5EF4-FFF2-40B4-BE49-F238E27FC236}">
                <a16:creationId xmlns:a16="http://schemas.microsoft.com/office/drawing/2014/main" id="{DD0EB7AD-3D71-A6A2-17C8-8A6361A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邮箱与 </a:t>
            </a:r>
            <a:r>
              <a:rPr sz="240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Piazza</a:t>
            </a:r>
            <a:endParaRPr sz="2400" b="1">
              <a:solidFill>
                <a:srgbClr val="5E81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2 9">
            <a:extLst xmlns:a="http://schemas.openxmlformats.org/drawingml/2006/main">
              <a:ext uri="{FF2B5EF4-FFF2-40B4-BE49-F238E27FC236}">
                <a16:creationId xmlns:a16="http://schemas.microsoft.com/office/drawing/2014/main" id="{BAED1BFE-DAEA-09EA-DBEF-266F2CD7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4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通知与讨论</a:t>
            </a:r>
          </a:p>
        </p:txBody>
      </p:sp>
      <p:sp>
        <p:nvSpPr>
          <p:cNvPr id="11" name="Text 2 10">
            <a:extLst xmlns:a="http://schemas.openxmlformats.org/drawingml/2006/main">
              <a:ext uri="{FF2B5EF4-FFF2-40B4-BE49-F238E27FC236}">
                <a16:creationId xmlns:a16="http://schemas.microsoft.com/office/drawing/2014/main" id="{DEB7CAD7-512E-48CE-555A-F022F598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542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442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本周，</a:t>
            </a:r>
            <a:br>
              <a:rPr sz="442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</a:br>
            <a:r>
              <a:rPr sz="442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先做哪件事？</a:t>
            </a:r>
          </a:p>
        </p:txBody>
      </p:sp>
      <p:sp>
        <p:nvSpPr>
          <p:cNvPr id="12" name="Text 2 11">
            <a:extLst xmlns:a="http://schemas.openxmlformats.org/drawingml/2006/main">
              <a:ext uri="{FF2B5EF4-FFF2-40B4-BE49-F238E27FC236}">
                <a16:creationId xmlns:a16="http://schemas.microsoft.com/office/drawing/2014/main" id="{5244AD15-5A87-5EF8-298B-C8BB9D05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71949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2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任务、截止与课程原文，</a:t>
            </a:r>
            <a:br>
              <a:rPr sz="22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</a:br>
            <a:r>
              <a:rPr sz="22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需要放在一起看。</a:t>
            </a:r>
          </a:p>
        </p:txBody>
      </p:sp>
      <p:sp>
        <p:nvSpPr>
          <p:cNvPr id="13" name="Text 2 12">
            <a:extLst xmlns:a="http://schemas.openxmlformats.org/drawingml/2006/main">
              <a:ext uri="{FF2B5EF4-FFF2-40B4-BE49-F238E27FC236}">
                <a16:creationId xmlns:a16="http://schemas.microsoft.com/office/drawing/2014/main" id="{4DD43481-2933-80FB-B697-6CC11FEA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02 / 10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019619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3 1">
            <a:extLst xmlns:a="http://schemas.openxmlformats.org/drawingml/2006/main">
              <a:ext uri="{FF2B5EF4-FFF2-40B4-BE49-F238E27FC236}">
                <a16:creationId xmlns:a16="http://schemas.microsoft.com/office/drawing/2014/main" id="{927DD414-2DDD-664F-BC82-76F5523A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课程与作业，按同一门课汇总</a:t>
            </a:r>
          </a:p>
        </p:txBody>
      </p:sp>
      <p:pic>
        <p:nvPicPr>
          <p:cNvPr id="4" name="Image 3 course-500-460-2320-1190">
            <a:extLst xmlns:a="http://schemas.openxmlformats.org/drawingml/2006/main">
              <a:ext uri="{FF2B5EF4-FFF2-40B4-BE49-F238E27FC236}">
                <a16:creationId xmlns:a16="http://schemas.microsoft.com/office/drawing/2014/main" id="{EAE7E9F0-2C45-4CEF-89AE-549B409CC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f994968ea4e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8274"/>
            <a:ext cx="5381625" cy="2760402"/>
          </a:xfrm>
          <a:prstGeom xmlns:a="http://schemas.openxmlformats.org/drawingml/2006/main" prst="rect">
            <a:avLst/>
          </a:prstGeom>
        </p:spPr>
      </p:pic>
      <p:pic>
        <p:nvPicPr>
          <p:cNvPr id="6" name="Image 3 assignments-500-475-2340-1195">
            <a:extLst xmlns:a="http://schemas.openxmlformats.org/drawingml/2006/main">
              <a:ext uri="{FF2B5EF4-FFF2-40B4-BE49-F238E27FC236}">
                <a16:creationId xmlns:a16="http://schemas.microsoft.com/office/drawing/2014/main" id="{EA63B184-13AB-43BB-9FC0-02A562732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505689d4f4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7138" y="1657350"/>
            <a:ext cx="5408924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Text 3 4">
            <a:extLst xmlns:a="http://schemas.openxmlformats.org/drawingml/2006/main">
              <a:ext uri="{FF2B5EF4-FFF2-40B4-BE49-F238E27FC236}">
                <a16:creationId xmlns:a16="http://schemas.microsoft.com/office/drawing/2014/main" id="{3F9A4379-35C5-010B-25AE-F2785F8A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538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同一门课，多个来源</a:t>
            </a:r>
          </a:p>
        </p:txBody>
      </p:sp>
      <p:sp>
        <p:nvSpPr>
          <p:cNvPr id="8" name="Text 3 5">
            <a:extLst xmlns:a="http://schemas.openxmlformats.org/drawingml/2006/main">
              <a:ext uri="{FF2B5EF4-FFF2-40B4-BE49-F238E27FC236}">
                <a16:creationId xmlns:a16="http://schemas.microsoft.com/office/drawing/2014/main" id="{46D9D346-57C3-8180-41B5-997C4C0A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72074"/>
            <a:ext cx="538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资料、作业、讨论和录播</a:t>
            </a:r>
            <a:b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</a:b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按课程关联，保留原站入口</a:t>
            </a:r>
          </a:p>
        </p:txBody>
      </p:sp>
      <p:sp>
        <p:nvSpPr>
          <p:cNvPr id="9" name="Text 3 6">
            <a:extLst xmlns:a="http://schemas.openxmlformats.org/drawingml/2006/main">
              <a:ext uri="{FF2B5EF4-FFF2-40B4-BE49-F238E27FC236}">
                <a16:creationId xmlns:a16="http://schemas.microsoft.com/office/drawing/2014/main" id="{E2FBC2BE-A9EB-B435-CCEF-43406C21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541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截止与状态分别核对</a:t>
            </a:r>
          </a:p>
        </p:txBody>
      </p:sp>
      <p:sp>
        <p:nvSpPr>
          <p:cNvPr id="10" name="Text 3 7">
            <a:extLst xmlns:a="http://schemas.openxmlformats.org/drawingml/2006/main">
              <a:ext uri="{FF2B5EF4-FFF2-40B4-BE49-F238E27FC236}">
                <a16:creationId xmlns:a16="http://schemas.microsoft.com/office/drawing/2014/main" id="{46C6964C-3558-8A8F-9200-422400CB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4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待办、草稿、提交与评分</a:t>
            </a:r>
            <a:b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</a:b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来源不明的状态保留待核实</a:t>
            </a:r>
          </a:p>
        </p:txBody>
      </p:sp>
      <p:sp>
        <p:nvSpPr>
          <p:cNvPr id="11" name="Text 3 8">
            <a:extLst xmlns:a="http://schemas.openxmlformats.org/drawingml/2006/main">
              <a:ext uri="{FF2B5EF4-FFF2-40B4-BE49-F238E27FC236}">
                <a16:creationId xmlns:a16="http://schemas.microsoft.com/office/drawing/2014/main" id="{A8DE9BCF-0957-BA8C-0413-3F43AF93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产品界面使用脱敏演示数据</a:t>
            </a:r>
          </a:p>
        </p:txBody>
      </p:sp>
      <p:sp>
        <p:nvSpPr>
          <p:cNvPr id="12" name="Text 3 9">
            <a:extLst xmlns:a="http://schemas.openxmlformats.org/drawingml/2006/main">
              <a:ext uri="{FF2B5EF4-FFF2-40B4-BE49-F238E27FC236}">
                <a16:creationId xmlns:a16="http://schemas.microsoft.com/office/drawing/2014/main" id="{C8B7A382-2282-C5D5-7486-03B9E7A9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03 / 10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769959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4 1">
            <a:extLst xmlns:a="http://schemas.openxmlformats.org/drawingml/2006/main">
              <a:ext uri="{FF2B5EF4-FFF2-40B4-BE49-F238E27FC236}">
                <a16:creationId xmlns:a16="http://schemas.microsoft.com/office/drawing/2014/main" id="{693E4520-AD0C-7919-CBBE-A08F5F37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邮件分类，结合你的学习需要</a:t>
            </a:r>
          </a:p>
        </p:txBody>
      </p:sp>
      <p:sp>
        <p:nvSpPr>
          <p:cNvPr id="3" name="Text 4 2">
            <a:extLst xmlns:a="http://schemas.openxmlformats.org/drawingml/2006/main">
              <a:ext uri="{FF2B5EF4-FFF2-40B4-BE49-F238E27FC236}">
                <a16:creationId xmlns:a16="http://schemas.microsoft.com/office/drawing/2014/main" id="{65DE75EB-E0CB-6618-3692-62C6EA3A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3962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3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“关注机器人讲座，</a:t>
            </a:r>
            <a:br>
              <a:rPr sz="23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</a:br>
            <a:r>
              <a:rPr sz="23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已结束活动保留摘要。”</a:t>
            </a:r>
          </a:p>
        </p:txBody>
      </p:sp>
      <p:sp>
        <p:nvSpPr>
          <p:cNvPr id="4" name="Text 4 3">
            <a:extLst xmlns:a="http://schemas.openxmlformats.org/drawingml/2006/main">
              <a:ext uri="{FF2B5EF4-FFF2-40B4-BE49-F238E27FC236}">
                <a16:creationId xmlns:a16="http://schemas.microsoft.com/office/drawing/2014/main" id="{5F283651-C1A1-1F1F-5FEE-E2E00426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偏好参与分类</a:t>
            </a:r>
          </a:p>
        </p:txBody>
      </p:sp>
      <p:sp>
        <p:nvSpPr>
          <p:cNvPr id="5" name="Text 4 4">
            <a:extLst xmlns:a="http://schemas.openxmlformats.org/drawingml/2006/main">
              <a:ext uri="{FF2B5EF4-FFF2-40B4-BE49-F238E27FC236}">
                <a16:creationId xmlns:a16="http://schemas.microsoft.com/office/drawing/2014/main" id="{6AC4EB1D-451E-7C39-BA6F-13A882DB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4"/>
            <a:ext cx="385762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年级、在修课程与完成状态</a:t>
            </a:r>
            <a:b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</a:b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共同决定关注内容</a:t>
            </a:r>
          </a:p>
        </p:txBody>
      </p:sp>
      <p:sp>
        <p:nvSpPr>
          <p:cNvPr id="6" name="Text 4 5">
            <a:extLst xmlns:a="http://schemas.openxmlformats.org/drawingml/2006/main">
              <a:ext uri="{FF2B5EF4-FFF2-40B4-BE49-F238E27FC236}">
                <a16:creationId xmlns:a16="http://schemas.microsoft.com/office/drawing/2014/main" id="{0FF24027-D76F-B3D0-2B87-6A327259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4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规则初筛，</a:t>
            </a: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复核</a:t>
            </a:r>
            <a:b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</a:b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手动分类优先保留</a:t>
            </a:r>
          </a:p>
        </p:txBody>
      </p:sp>
      <p:pic>
        <p:nvPicPr>
          <p:cNvPr id="8" name="Image 4 mail-reason-895-630-1870-910">
            <a:extLst xmlns:a="http://schemas.openxmlformats.org/drawingml/2006/main">
              <a:ext uri="{FF2B5EF4-FFF2-40B4-BE49-F238E27FC236}">
                <a16:creationId xmlns:a16="http://schemas.microsoft.com/office/drawing/2014/main" id="{11851650-77CD-4A68-8DA0-A8D00F29C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f62cb61504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5117" y="1847850"/>
            <a:ext cx="6928966" cy="3371850"/>
          </a:xfrm>
          <a:prstGeom xmlns:a="http://schemas.openxmlformats.org/drawingml/2006/main" prst="rect">
            <a:avLst/>
          </a:prstGeom>
        </p:spPr>
      </p:pic>
      <p:sp>
        <p:nvSpPr>
          <p:cNvPr id="9" name="Text 4 7">
            <a:extLst xmlns:a="http://schemas.openxmlformats.org/drawingml/2006/main">
              <a:ext uri="{FF2B5EF4-FFF2-40B4-BE49-F238E27FC236}">
                <a16:creationId xmlns:a16="http://schemas.microsoft.com/office/drawing/2014/main" id="{D7ABC70F-9BB9-9E94-71A5-2B5BDF30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76874"/>
            <a:ext cx="693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分类理由与原文，可以展开核对</a:t>
            </a:r>
          </a:p>
        </p:txBody>
      </p:sp>
      <p:sp>
        <p:nvSpPr>
          <p:cNvPr id="10" name="Text 4 8">
            <a:extLst xmlns:a="http://schemas.openxmlformats.org/drawingml/2006/main">
              <a:ext uri="{FF2B5EF4-FFF2-40B4-BE49-F238E27FC236}">
                <a16:creationId xmlns:a16="http://schemas.microsoft.com/office/drawing/2014/main" id="{17C3CA7B-CCE8-C484-EA84-16AFC1A1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邮件与日周总结范围：最近最多 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100 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封已同步收件箱邮件</a:t>
            </a:r>
          </a:p>
        </p:txBody>
      </p:sp>
      <p:sp>
        <p:nvSpPr>
          <p:cNvPr id="11" name="Text 4 9">
            <a:extLst xmlns:a="http://schemas.openxmlformats.org/drawingml/2006/main">
              <a:ext uri="{FF2B5EF4-FFF2-40B4-BE49-F238E27FC236}">
                <a16:creationId xmlns:a16="http://schemas.microsoft.com/office/drawing/2014/main" id="{FB2D9E13-CA11-FEF7-5FA5-B64B2E89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04 / 10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012807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5 1">
            <a:extLst xmlns:a="http://schemas.openxmlformats.org/drawingml/2006/main">
              <a:ext uri="{FF2B5EF4-FFF2-40B4-BE49-F238E27FC236}">
                <a16:creationId xmlns:a16="http://schemas.microsoft.com/office/drawing/2014/main" id="{D5ED1C1C-0D4F-783E-B493-C819B61B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一句话安排日程，结果可以核对</a:t>
            </a:r>
          </a:p>
        </p:txBody>
      </p:sp>
      <p:sp>
        <p:nvSpPr>
          <p:cNvPr id="3" name="Text 5 2">
            <a:extLst xmlns:a="http://schemas.openxmlformats.org/drawingml/2006/main">
              <a:ext uri="{FF2B5EF4-FFF2-40B4-BE49-F238E27FC236}">
                <a16:creationId xmlns:a16="http://schemas.microsoft.com/office/drawing/2014/main" id="{C470BD43-1BE5-B4D0-0F65-FE783481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19225"/>
            <a:ext cx="1120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3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“帮我把下一次形策讲座加入时间表”</a:t>
            </a:r>
          </a:p>
        </p:txBody>
      </p:sp>
      <p:sp>
        <p:nvSpPr>
          <p:cNvPr id="4" name="Text 5 3">
            <a:extLst xmlns:a="http://schemas.openxmlformats.org/drawingml/2006/main">
              <a:ext uri="{FF2B5EF4-FFF2-40B4-BE49-F238E27FC236}">
                <a16:creationId xmlns:a16="http://schemas.microsoft.com/office/drawing/2014/main" id="{E9A3FB15-53F9-C742-5B40-CE87A854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499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>
                <a:solidFill>
                  <a:srgbClr val="5E81AC"/>
                </a:solidFill>
                <a:latin typeface="Bahnschrift"/>
                <a:ea typeface="Bahnschrift"/>
                <a:cs typeface="Bahnschrift"/>
              </a:rPr>
              <a:t>01</a:t>
            </a:r>
            <a:endParaRPr sz="2175">
              <a:solidFill>
                <a:srgbClr val="5E81AC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5" name="Text 5 4">
            <a:extLst xmlns:a="http://schemas.openxmlformats.org/drawingml/2006/main">
              <a:ext uri="{FF2B5EF4-FFF2-40B4-BE49-F238E27FC236}">
                <a16:creationId xmlns:a16="http://schemas.microsoft.com/office/drawing/2014/main" id="{42C36EA2-093E-4AD3-BE49-7BEC519C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499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读取通知与当前课表</a:t>
            </a:r>
          </a:p>
        </p:txBody>
      </p:sp>
      <p:sp>
        <p:nvSpPr>
          <p:cNvPr id="6" name="Text 5 5">
            <a:extLst xmlns:a="http://schemas.openxmlformats.org/drawingml/2006/main">
              <a:ext uri="{FF2B5EF4-FFF2-40B4-BE49-F238E27FC236}">
                <a16:creationId xmlns:a16="http://schemas.microsoft.com/office/drawing/2014/main" id="{878605A6-73C8-0D23-EB96-4303B8FE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95674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>
                <a:solidFill>
                  <a:srgbClr val="5E81AC"/>
                </a:solidFill>
                <a:latin typeface="Bahnschrift"/>
                <a:ea typeface="Bahnschrift"/>
                <a:cs typeface="Bahnschrift"/>
              </a:rPr>
              <a:t>02</a:t>
            </a:r>
            <a:endParaRPr sz="2175">
              <a:solidFill>
                <a:srgbClr val="5E81AC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7" name="Text 5 6">
            <a:extLst xmlns:a="http://schemas.openxmlformats.org/drawingml/2006/main">
              <a:ext uri="{FF2B5EF4-FFF2-40B4-BE49-F238E27FC236}">
                <a16:creationId xmlns:a16="http://schemas.microsoft.com/office/drawing/2014/main" id="{AED49828-3B42-E3C5-1DA8-87112B16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95674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核对时间与已知冲突</a:t>
            </a:r>
          </a:p>
        </p:txBody>
      </p:sp>
      <p:sp>
        <p:nvSpPr>
          <p:cNvPr id="8" name="Text 5 7">
            <a:extLst xmlns:a="http://schemas.openxmlformats.org/drawingml/2006/main">
              <a:ext uri="{FF2B5EF4-FFF2-40B4-BE49-F238E27FC236}">
                <a16:creationId xmlns:a16="http://schemas.microsoft.com/office/drawing/2014/main" id="{82B1D936-F574-FBB4-AA41-14DE6EE4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49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>
                <a:solidFill>
                  <a:srgbClr val="5E81AC"/>
                </a:solidFill>
                <a:latin typeface="Bahnschrift"/>
                <a:ea typeface="Bahnschrift"/>
                <a:cs typeface="Bahnschrift"/>
              </a:rPr>
              <a:t>03</a:t>
            </a:r>
            <a:endParaRPr sz="2175">
              <a:solidFill>
                <a:srgbClr val="5E81AC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9" name="Text 5 8">
            <a:extLst xmlns:a="http://schemas.openxmlformats.org/drawingml/2006/main">
              <a:ext uri="{FF2B5EF4-FFF2-40B4-BE49-F238E27FC236}">
                <a16:creationId xmlns:a16="http://schemas.microsoft.com/office/drawing/2014/main" id="{724F3B06-E383-3280-1A33-057DE25B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49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确认后写入，返回回执</a:t>
            </a:r>
          </a:p>
        </p:txBody>
      </p:sp>
      <p:pic>
        <p:nvPicPr>
          <p:cNvPr id="11" name="Image 5 schedule-receipt-875-380-1650-732">
            <a:extLst xmlns:a="http://schemas.openxmlformats.org/drawingml/2006/main">
              <a:ext uri="{FF2B5EF4-FFF2-40B4-BE49-F238E27FC236}">
                <a16:creationId xmlns:a16="http://schemas.microsoft.com/office/drawing/2014/main" id="{3F4E84DA-EFDB-4227-9262-F4D9A9637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a368cb92f4a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0803" y="2266950"/>
            <a:ext cx="7085195" cy="3143250"/>
          </a:xfrm>
          <a:prstGeom xmlns:a="http://schemas.openxmlformats.org/drawingml/2006/main" prst="rect">
            <a:avLst/>
          </a:prstGeom>
        </p:spPr>
      </p:pic>
      <p:sp>
        <p:nvSpPr>
          <p:cNvPr id="12" name="Text 5 10">
            <a:extLst xmlns:a="http://schemas.openxmlformats.org/drawingml/2006/main">
              <a:ext uri="{FF2B5EF4-FFF2-40B4-BE49-F238E27FC236}">
                <a16:creationId xmlns:a16="http://schemas.microsoft.com/office/drawing/2014/main" id="{95535679-AD40-014F-AF1B-8A5B55C4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19749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9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近四周课程与作业截止</a:t>
            </a:r>
          </a:p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9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可导出为 .ics 日历文件</a:t>
            </a:r>
          </a:p>
        </p:txBody>
      </p:sp>
      <p:sp>
        <p:nvSpPr>
          <p:cNvPr id="13" name="Text 5 11">
            <a:extLst xmlns:a="http://schemas.openxmlformats.org/drawingml/2006/main">
              <a:ext uri="{FF2B5EF4-FFF2-40B4-BE49-F238E27FC236}">
                <a16:creationId xmlns:a16="http://schemas.microsoft.com/office/drawing/2014/main" id="{2606EF49-C7EB-B67C-2A7D-BB012480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本地日程保留保存回执，学校活动报名仍由原系统办理</a:t>
            </a:r>
          </a:p>
        </p:txBody>
      </p:sp>
      <p:sp>
        <p:nvSpPr>
          <p:cNvPr id="14" name="Text 5 12">
            <a:extLst xmlns:a="http://schemas.openxmlformats.org/drawingml/2006/main">
              <a:ext uri="{FF2B5EF4-FFF2-40B4-BE49-F238E27FC236}">
                <a16:creationId xmlns:a16="http://schemas.microsoft.com/office/drawing/2014/main" id="{F09F5B89-7A08-4BC4-59DC-BBF83626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05 / 10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813272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6 1">
            <a:extLst xmlns:a="http://schemas.openxmlformats.org/drawingml/2006/main">
              <a:ext uri="{FF2B5EF4-FFF2-40B4-BE49-F238E27FC236}">
                <a16:creationId xmlns:a16="http://schemas.microsoft.com/office/drawing/2014/main" id="{975E78EB-71D4-F310-40B2-BA456F7C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复习建议，能回到课件的具体页</a:t>
            </a:r>
          </a:p>
        </p:txBody>
      </p:sp>
      <p:sp>
        <p:nvSpPr>
          <p:cNvPr id="3" name="Text 6 2">
            <a:extLst xmlns:a="http://schemas.openxmlformats.org/drawingml/2006/main">
              <a:ext uri="{FF2B5EF4-FFF2-40B4-BE49-F238E27FC236}">
                <a16:creationId xmlns:a16="http://schemas.microsoft.com/office/drawing/2014/main" id="{2F21F3EB-1843-BD74-428A-F2F2BDE6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49"/>
            <a:ext cx="4143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2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“这周作业较多，</a:t>
            </a:r>
            <a:br>
              <a:rPr sz="22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</a:br>
            <a:r>
              <a:rPr sz="22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帮我安排条件概率复习。”</a:t>
            </a:r>
          </a:p>
        </p:txBody>
      </p:sp>
      <p:sp>
        <p:nvSpPr>
          <p:cNvPr id="4" name="Text 6 3">
            <a:extLst xmlns:a="http://schemas.openxmlformats.org/drawingml/2006/main">
              <a:ext uri="{FF2B5EF4-FFF2-40B4-BE49-F238E27FC236}">
                <a16:creationId xmlns:a16="http://schemas.microsoft.com/office/drawing/2014/main" id="{2B274E2D-C503-631B-7CE3-780592F3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38290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先看任务，再读资料</a:t>
            </a:r>
          </a:p>
        </p:txBody>
      </p:sp>
      <p:sp>
        <p:nvSpPr>
          <p:cNvPr id="5" name="Text 6 4">
            <a:extLst xmlns:a="http://schemas.openxmlformats.org/drawingml/2006/main">
              <a:ext uri="{FF2B5EF4-FFF2-40B4-BE49-F238E27FC236}">
                <a16:creationId xmlns:a16="http://schemas.microsoft.com/office/drawing/2014/main" id="{533334CF-97B1-97C3-DF39-1288C3DC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4"/>
            <a:ext cx="38290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结合截止安排学习顺序</a:t>
            </a:r>
            <a:b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</a:b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按需读取 </a:t>
            </a: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PDF </a:t>
            </a: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与 </a:t>
            </a: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PPTX</a:t>
            </a:r>
            <a:endParaRPr sz="1875">
              <a:solidFill>
                <a:srgbClr val="4C5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 5">
            <a:extLst xmlns:a="http://schemas.openxmlformats.org/drawingml/2006/main">
              <a:ext uri="{FF2B5EF4-FFF2-40B4-BE49-F238E27FC236}">
                <a16:creationId xmlns:a16="http://schemas.microsoft.com/office/drawing/2014/main" id="{19AF8C84-5420-2688-ED60-F1F7E7D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799"/>
            <a:ext cx="38671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引用原文与页码</a:t>
            </a:r>
            <a:br>
              <a:rPr sz="217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</a:br>
            <a:r>
              <a:rPr sz="2175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可返回原文件核对</a:t>
            </a:r>
          </a:p>
        </p:txBody>
      </p:sp>
      <p:pic>
        <p:nvPicPr>
          <p:cNvPr id="8" name="Image 6 study-citation-875-155-1600-895">
            <a:extLst xmlns:a="http://schemas.openxmlformats.org/drawingml/2006/main">
              <a:ext uri="{FF2B5EF4-FFF2-40B4-BE49-F238E27FC236}">
                <a16:creationId xmlns:a16="http://schemas.microsoft.com/office/drawing/2014/main" id="{54668257-350D-4148-9AA8-08F5170D1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1277180dd47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629" y="1790700"/>
            <a:ext cx="7066592" cy="3952875"/>
          </a:xfrm>
          <a:prstGeom xmlns:a="http://schemas.openxmlformats.org/drawingml/2006/main" prst="rect">
            <a:avLst/>
          </a:prstGeom>
        </p:spPr>
      </p:pic>
      <p:sp>
        <p:nvSpPr>
          <p:cNvPr id="9" name="Text 6 7">
            <a:extLst xmlns:a="http://schemas.openxmlformats.org/drawingml/2006/main">
              <a:ext uri="{FF2B5EF4-FFF2-40B4-BE49-F238E27FC236}">
                <a16:creationId xmlns:a16="http://schemas.microsoft.com/office/drawing/2014/main" id="{9B9ABDF4-5559-1213-B164-40B05FB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示例回答引用：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Lecture Slides L2 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第 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5 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页，页码与原文已核对</a:t>
            </a:r>
          </a:p>
        </p:txBody>
      </p:sp>
      <p:sp>
        <p:nvSpPr>
          <p:cNvPr id="10" name="Text 6 8">
            <a:extLst xmlns:a="http://schemas.openxmlformats.org/drawingml/2006/main">
              <a:ext uri="{FF2B5EF4-FFF2-40B4-BE49-F238E27FC236}">
                <a16:creationId xmlns:a16="http://schemas.microsoft.com/office/drawing/2014/main" id="{AB12F68E-A329-82C0-1531-A128A35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06 / 10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228502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7 1">
            <a:extLst xmlns:a="http://schemas.openxmlformats.org/drawingml/2006/main">
              <a:ext uri="{FF2B5EF4-FFF2-40B4-BE49-F238E27FC236}">
                <a16:creationId xmlns:a16="http://schemas.microsoft.com/office/drawing/2014/main" id="{7BD433BE-C36C-C99A-6034-FC61E06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选课建议，结合已有学业信息</a:t>
            </a:r>
          </a:p>
        </p:txBody>
      </p:sp>
      <p:sp>
        <p:nvSpPr>
          <p:cNvPr id="3" name="Text 7 2">
            <a:extLst xmlns:a="http://schemas.openxmlformats.org/drawingml/2006/main">
              <a:ext uri="{FF2B5EF4-FFF2-40B4-BE49-F238E27FC236}">
                <a16:creationId xmlns:a16="http://schemas.microsoft.com/office/drawing/2014/main" id="{BD07F4D9-DED6-79C7-6063-A0663660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28774"/>
            <a:ext cx="4219575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3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“我对机器人感兴趣，</a:t>
            </a:r>
            <a:br>
              <a:rPr sz="23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</a:br>
            <a:r>
              <a:rPr sz="23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下学期怎么选课？”</a:t>
            </a:r>
          </a:p>
        </p:txBody>
      </p:sp>
      <p:sp>
        <p:nvSpPr>
          <p:cNvPr id="4" name="Text 7 3">
            <a:extLst xmlns:a="http://schemas.openxmlformats.org/drawingml/2006/main">
              <a:ext uri="{FF2B5EF4-FFF2-40B4-BE49-F238E27FC236}">
                <a16:creationId xmlns:a16="http://schemas.microsoft.com/office/drawing/2014/main" id="{F4E6D99F-B969-5B1E-BB61-410A7901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2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已有课程与培养方案</a:t>
            </a:r>
          </a:p>
        </p:txBody>
      </p:sp>
      <p:sp>
        <p:nvSpPr>
          <p:cNvPr id="5" name="Text 7 4">
            <a:extLst xmlns:a="http://schemas.openxmlformats.org/drawingml/2006/main">
              <a:ext uri="{FF2B5EF4-FFF2-40B4-BE49-F238E27FC236}">
                <a16:creationId xmlns:a16="http://schemas.microsoft.com/office/drawing/2014/main" id="{DE76AA8A-661B-B354-7654-84C6001E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95724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课程目录、教学大纲与先修要求</a:t>
            </a:r>
          </a:p>
        </p:txBody>
      </p:sp>
      <p:sp>
        <p:nvSpPr>
          <p:cNvPr id="6" name="Text 7 5">
            <a:extLst xmlns:a="http://schemas.openxmlformats.org/drawingml/2006/main">
              <a:ext uri="{FF2B5EF4-FFF2-40B4-BE49-F238E27FC236}">
                <a16:creationId xmlns:a16="http://schemas.microsoft.com/office/drawing/2014/main" id="{FB43B6BF-352E-71DA-0BFA-FD838EEA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499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个人方向与每周学习负担</a:t>
            </a:r>
          </a:p>
        </p:txBody>
      </p:sp>
      <p:pic>
        <p:nvPicPr>
          <p:cNvPr id="8" name="Image 7 advising-875-330-1605-685">
            <a:extLst xmlns:a="http://schemas.openxmlformats.org/drawingml/2006/main">
              <a:ext uri="{FF2B5EF4-FFF2-40B4-BE49-F238E27FC236}">
                <a16:creationId xmlns:a16="http://schemas.microsoft.com/office/drawing/2014/main" id="{E35A1C31-F98A-463E-BEAB-639080E38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3623ec6f7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2431620"/>
            <a:ext cx="6905625" cy="2947261"/>
          </a:xfrm>
          <a:prstGeom xmlns:a="http://schemas.openxmlformats.org/drawingml/2006/main" prst="rect">
            <a:avLst/>
          </a:prstGeom>
        </p:spPr>
      </p:pic>
      <p:sp>
        <p:nvSpPr>
          <p:cNvPr id="9" name="Text 7 7">
            <a:extLst xmlns:a="http://schemas.openxmlformats.org/drawingml/2006/main">
              <a:ext uri="{FF2B5EF4-FFF2-40B4-BE49-F238E27FC236}">
                <a16:creationId xmlns:a16="http://schemas.microsoft.com/office/drawing/2014/main" id="{F5EA53E2-FB49-FD65-4499-82501560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选课示例，实际开课与正式安排以学校当期目录为准</a:t>
            </a:r>
          </a:p>
        </p:txBody>
      </p:sp>
      <p:sp>
        <p:nvSpPr>
          <p:cNvPr id="10" name="Text 7 8">
            <a:extLst xmlns:a="http://schemas.openxmlformats.org/drawingml/2006/main">
              <a:ext uri="{FF2B5EF4-FFF2-40B4-BE49-F238E27FC236}">
                <a16:creationId xmlns:a16="http://schemas.microsoft.com/office/drawing/2014/main" id="{C1F34A79-9BBA-7BBB-0706-AB126B82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07 / 10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5438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E3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8 1">
            <a:extLst xmlns:a="http://schemas.openxmlformats.org/drawingml/2006/main">
              <a:ext uri="{FF2B5EF4-FFF2-40B4-BE49-F238E27FC236}">
                <a16:creationId xmlns:a16="http://schemas.microsoft.com/office/drawing/2014/main" id="{2023E895-DCB7-2807-0845-581E4B4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3150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工具调用与结果校验</a:t>
            </a:r>
          </a:p>
        </p:txBody>
      </p:sp>
      <p:sp>
        <p:nvSpPr>
          <p:cNvPr id="3" name="Text 8 2">
            <a:extLst xmlns:a="http://schemas.openxmlformats.org/drawingml/2006/main">
              <a:ext uri="{FF2B5EF4-FFF2-40B4-BE49-F238E27FC236}">
                <a16:creationId xmlns:a16="http://schemas.microsoft.com/office/drawing/2014/main" id="{0354812D-5C47-A497-15CD-024A990C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4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225">
                <a:solidFill>
                  <a:srgbClr val="88C0D0"/>
                </a:solidFill>
                <a:latin typeface="Bahnschrift"/>
                <a:ea typeface="Bahnschrift"/>
                <a:cs typeface="Bahnschrift"/>
              </a:rPr>
              <a:t>01</a:t>
            </a:r>
            <a:endParaRPr sz="3225">
              <a:solidFill>
                <a:srgbClr val="88C0D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4" name="Text 8 3">
            <a:extLst xmlns:a="http://schemas.openxmlformats.org/drawingml/2006/main">
              <a:ext uri="{FF2B5EF4-FFF2-40B4-BE49-F238E27FC236}">
                <a16:creationId xmlns:a16="http://schemas.microsoft.com/office/drawing/2014/main" id="{A69E6291-8F80-FAC9-F862-F4FE511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62124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共享连接与本地存储</a:t>
            </a:r>
          </a:p>
        </p:txBody>
      </p:sp>
      <p:sp>
        <p:nvSpPr>
          <p:cNvPr id="5" name="Text 8 4">
            <a:extLst xmlns:a="http://schemas.openxmlformats.org/drawingml/2006/main">
              <a:ext uri="{FF2B5EF4-FFF2-40B4-BE49-F238E27FC236}">
                <a16:creationId xmlns:a16="http://schemas.microsoft.com/office/drawing/2014/main" id="{53C197CC-7CA5-E0C9-79FB-61D2451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4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学校会话与多模型配置</a:t>
            </a:r>
            <a:b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</a:b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凭据由 </a:t>
            </a: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Windows DPAPI </a:t>
            </a: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加密</a:t>
            </a:r>
          </a:p>
        </p:txBody>
      </p:sp>
      <p:sp>
        <p:nvSpPr>
          <p:cNvPr id="6" name="Text 8 5">
            <a:extLst xmlns:a="http://schemas.openxmlformats.org/drawingml/2006/main">
              <a:ext uri="{FF2B5EF4-FFF2-40B4-BE49-F238E27FC236}">
                <a16:creationId xmlns:a16="http://schemas.microsoft.com/office/drawing/2014/main" id="{52725E4D-D689-2974-7777-E5E4EB81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4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225">
                <a:solidFill>
                  <a:srgbClr val="88C0D0"/>
                </a:solidFill>
                <a:latin typeface="Bahnschrift"/>
                <a:ea typeface="Bahnschrift"/>
                <a:cs typeface="Bahnschrift"/>
              </a:rPr>
              <a:t>02</a:t>
            </a:r>
            <a:endParaRPr sz="3225">
              <a:solidFill>
                <a:srgbClr val="88C0D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7" name="Text 8 6">
            <a:extLst xmlns:a="http://schemas.openxmlformats.org/drawingml/2006/main">
              <a:ext uri="{FF2B5EF4-FFF2-40B4-BE49-F238E27FC236}">
                <a16:creationId xmlns:a16="http://schemas.microsoft.com/office/drawing/2014/main" id="{C1D175CC-54B7-3FC2-E9A1-84480FB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57524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Harness </a:t>
            </a:r>
            <a:r>
              <a:rPr sz="2400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原生插件</a:t>
            </a:r>
          </a:p>
        </p:txBody>
      </p:sp>
      <p:sp>
        <p:nvSpPr>
          <p:cNvPr id="8" name="Text 8 7">
            <a:extLst xmlns:a="http://schemas.openxmlformats.org/drawingml/2006/main">
              <a:ext uri="{FF2B5EF4-FFF2-40B4-BE49-F238E27FC236}">
                <a16:creationId xmlns:a16="http://schemas.microsoft.com/office/drawing/2014/main" id="{5CD66BAF-807A-C12C-902C-7D730548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4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通过公开 </a:t>
            </a: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API </a:t>
            </a: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按需读取</a:t>
            </a:r>
            <a:b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</a:b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课程、课件与通知</a:t>
            </a:r>
          </a:p>
        </p:txBody>
      </p:sp>
      <p:sp>
        <p:nvSpPr>
          <p:cNvPr id="9" name="Text 8 8">
            <a:extLst xmlns:a="http://schemas.openxmlformats.org/drawingml/2006/main">
              <a:ext uri="{FF2B5EF4-FFF2-40B4-BE49-F238E27FC236}">
                <a16:creationId xmlns:a16="http://schemas.microsoft.com/office/drawing/2014/main" id="{045F0B35-21A3-53F3-1FC5-2CB9DBB0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4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225">
                <a:solidFill>
                  <a:srgbClr val="88C0D0"/>
                </a:solidFill>
                <a:latin typeface="Bahnschrift"/>
                <a:ea typeface="Bahnschrift"/>
                <a:cs typeface="Bahnschrift"/>
              </a:rPr>
              <a:t>03</a:t>
            </a:r>
            <a:endParaRPr sz="3225">
              <a:solidFill>
                <a:srgbClr val="88C0D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0" name="Text 8 9">
            <a:extLst xmlns:a="http://schemas.openxmlformats.org/drawingml/2006/main">
              <a:ext uri="{FF2B5EF4-FFF2-40B4-BE49-F238E27FC236}">
                <a16:creationId xmlns:a16="http://schemas.microsoft.com/office/drawing/2014/main" id="{DF7AB010-319D-1CB4-A9A3-0C012B4F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52924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服务端核对结果</a:t>
            </a:r>
          </a:p>
        </p:txBody>
      </p:sp>
      <p:sp>
        <p:nvSpPr>
          <p:cNvPr id="11" name="Text 8 10">
            <a:extLst xmlns:a="http://schemas.openxmlformats.org/drawingml/2006/main">
              <a:ext uri="{FF2B5EF4-FFF2-40B4-BE49-F238E27FC236}">
                <a16:creationId xmlns:a16="http://schemas.microsoft.com/office/drawing/2014/main" id="{21E876BD-C7B0-8971-FC02-754121CD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4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原文引用、账号版本与明确意愿</a:t>
            </a:r>
            <a:b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</a:br>
            <a:r>
              <a:rPr sz="2025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写入后返回实际操作回执</a:t>
            </a:r>
          </a:p>
        </p:txBody>
      </p:sp>
      <p:sp>
        <p:nvSpPr>
          <p:cNvPr id="12" name="Text 8 11">
            <a:extLst xmlns:a="http://schemas.openxmlformats.org/drawingml/2006/main">
              <a:ext uri="{FF2B5EF4-FFF2-40B4-BE49-F238E27FC236}">
                <a16:creationId xmlns:a16="http://schemas.microsoft.com/office/drawing/2014/main" id="{79F035EC-F1FE-F9B4-D472-01634A5A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81674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025">
                <a:solidFill>
                  <a:srgbClr val="88C0D0"/>
                </a:solidFill>
                <a:latin typeface="Microsoft YaHei"/>
                <a:ea typeface="Microsoft YaHei"/>
                <a:cs typeface="Microsoft YaHei"/>
              </a:rPr>
              <a:t>19 </a:t>
            </a:r>
            <a:r>
              <a:rPr sz="2025">
                <a:solidFill>
                  <a:srgbClr val="88C0D0"/>
                </a:solidFill>
                <a:latin typeface="Microsoft YaHei"/>
                <a:ea typeface="Microsoft YaHei"/>
                <a:cs typeface="Microsoft YaHei"/>
              </a:rPr>
              <a:t>个独立模块，可按需启停与恢复</a:t>
            </a:r>
          </a:p>
        </p:txBody>
      </p:sp>
      <p:sp>
        <p:nvSpPr>
          <p:cNvPr id="13" name="Text 8 12">
            <a:extLst xmlns:a="http://schemas.openxmlformats.org/drawingml/2006/main">
              <a:ext uri="{FF2B5EF4-FFF2-40B4-BE49-F238E27FC236}">
                <a16:creationId xmlns:a16="http://schemas.microsoft.com/office/drawing/2014/main" id="{F5AFFE81-9B9E-D0D8-90E8-D6DB0367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FastAPI + </a:t>
            </a:r>
            <a:r>
              <a:rPr sz="135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原生 </a:t>
            </a:r>
            <a:r>
              <a:rPr sz="135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ES Modules + </a:t>
            </a:r>
            <a:r>
              <a:rPr sz="135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sz="135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  <a:r>
              <a:rPr sz="135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，所需资料发送至所选模型服务</a:t>
            </a:r>
          </a:p>
        </p:txBody>
      </p:sp>
      <p:sp>
        <p:nvSpPr>
          <p:cNvPr id="14" name="Text 8 13">
            <a:extLst xmlns:a="http://schemas.openxmlformats.org/drawingml/2006/main">
              <a:ext uri="{FF2B5EF4-FFF2-40B4-BE49-F238E27FC236}">
                <a16:creationId xmlns:a16="http://schemas.microsoft.com/office/drawing/2014/main" id="{90622550-ED7E-CC81-658F-A32FD31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D8DEE9"/>
                </a:solidFill>
                <a:latin typeface="Bahnschrift"/>
                <a:ea typeface="Bahnschrift"/>
                <a:cs typeface="Bahnschrift"/>
              </a:rPr>
              <a:t>08 / 10</a:t>
            </a:r>
            <a:endParaRPr sz="1200">
              <a:solidFill>
                <a:srgbClr val="D8DEE9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219520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9 1">
            <a:extLst xmlns:a="http://schemas.openxmlformats.org/drawingml/2006/main">
              <a:ext uri="{FF2B5EF4-FFF2-40B4-BE49-F238E27FC236}">
                <a16:creationId xmlns:a16="http://schemas.microsoft.com/office/drawing/2014/main" id="{7586DBED-966E-920F-BFF4-9971B81E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同一份学习信息，多种使用方式</a:t>
            </a:r>
          </a:p>
        </p:txBody>
      </p:sp>
      <p:pic>
        <p:nvPicPr>
          <p:cNvPr id="4" name="Image 9 prts">
            <a:extLst xmlns:a="http://schemas.openxmlformats.org/drawingml/2006/main">
              <a:ext uri="{FF2B5EF4-FFF2-40B4-BE49-F238E27FC236}">
                <a16:creationId xmlns:a16="http://schemas.microsoft.com/office/drawing/2014/main" id="{81945C12-358E-405C-B7AA-1F5017042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fd61a825442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66875"/>
            <a:ext cx="5010150" cy="2677859"/>
          </a:xfrm>
          <a:prstGeom xmlns:a="http://schemas.openxmlformats.org/drawingml/2006/main" prst="rect">
            <a:avLst/>
          </a:prstGeom>
        </p:spPr>
      </p:pic>
      <p:pic>
        <p:nvPicPr>
          <p:cNvPr id="6" name="Image 9 observatory">
            <a:extLst xmlns:a="http://schemas.openxmlformats.org/drawingml/2006/main">
              <a:ext uri="{FF2B5EF4-FFF2-40B4-BE49-F238E27FC236}">
                <a16:creationId xmlns:a16="http://schemas.microsoft.com/office/drawing/2014/main" id="{9FA8C3D2-8B9D-4D44-B3D7-E818286E2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871e07c714e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872" y="4562475"/>
            <a:ext cx="2395252" cy="1171575"/>
          </a:xfrm>
          <a:prstGeom xmlns:a="http://schemas.openxmlformats.org/drawingml/2006/main" prst="rect">
            <a:avLst/>
          </a:prstGeom>
        </p:spPr>
      </p:pic>
      <p:pic>
        <p:nvPicPr>
          <p:cNvPr id="8" name="Image 9 star-notes">
            <a:extLst xmlns:a="http://schemas.openxmlformats.org/drawingml/2006/main">
              <a:ext uri="{FF2B5EF4-FFF2-40B4-BE49-F238E27FC236}">
                <a16:creationId xmlns:a16="http://schemas.microsoft.com/office/drawing/2014/main" id="{5C5D8B7F-9569-4C8A-86ED-90E30F62F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ebdd4890f42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7722" y="4562475"/>
            <a:ext cx="2395252" cy="1171575"/>
          </a:xfrm>
          <a:prstGeom xmlns:a="http://schemas.openxmlformats.org/drawingml/2006/main" prst="rect">
            <a:avLst/>
          </a:prstGeom>
        </p:spPr>
      </p:pic>
      <p:sp>
        <p:nvSpPr>
          <p:cNvPr id="9" name="Text 9 5">
            <a:extLst xmlns:a="http://schemas.openxmlformats.org/drawingml/2006/main">
              <a:ext uri="{FF2B5EF4-FFF2-40B4-BE49-F238E27FC236}">
                <a16:creationId xmlns:a16="http://schemas.microsoft.com/office/drawing/2014/main" id="{3A66CB76-C0D2-3DED-6E21-D7C25F44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819274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.ics 日历导出</a:t>
            </a:r>
          </a:p>
        </p:txBody>
      </p:sp>
      <p:sp>
        <p:nvSpPr>
          <p:cNvPr id="10" name="Text 9 6">
            <a:extLst xmlns:a="http://schemas.openxmlformats.org/drawingml/2006/main">
              <a:ext uri="{FF2B5EF4-FFF2-40B4-BE49-F238E27FC236}">
                <a16:creationId xmlns:a16="http://schemas.microsoft.com/office/drawing/2014/main" id="{7EEB52C1-70E4-17F9-C07E-693CCCBA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81274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>
              <a:defRPr sz="2025"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近四周课程与截止</a:t>
            </a:r>
            <a:endParaRPr sz="2100">
              <a:solidFill>
                <a:srgbClr val="2E344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lnSpc>
                <a:spcPct val="11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课程地点与作业提醒</a:t>
            </a:r>
            <a:endParaRPr sz="2100">
              <a:solidFill>
                <a:srgbClr val="2E344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lnSpc>
                <a:spcPct val="11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苹果／安卓／鸿蒙</a:t>
            </a:r>
            <a:endParaRPr sz="2100">
              <a:solidFill>
                <a:srgbClr val="2E344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 9 7">
            <a:extLst xmlns:a="http://schemas.openxmlformats.org/drawingml/2006/main">
              <a:ext uri="{FF2B5EF4-FFF2-40B4-BE49-F238E27FC236}">
                <a16:creationId xmlns:a16="http://schemas.microsoft.com/office/drawing/2014/main" id="{E835F3CE-B017-1539-3C29-056F07FD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762499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手机网页</a:t>
            </a:r>
            <a:br>
              <a:rPr sz="210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</a:br>
            <a:r>
              <a:rPr sz="210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按天查看课程与待办</a:t>
            </a:r>
          </a:p>
        </p:txBody>
      </p:sp>
      <p:pic>
        <p:nvPicPr>
          <p:cNvPr id="13" name="Image 9 mobile-day">
            <a:extLst xmlns:a="http://schemas.openxmlformats.org/drawingml/2006/main">
              <a:ext uri="{FF2B5EF4-FFF2-40B4-BE49-F238E27FC236}">
                <a16:creationId xmlns:a16="http://schemas.microsoft.com/office/drawing/2014/main" id="{B4BD4BD6-97D9-4109-B9EA-90BBBA7F8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5330ff4ab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3100" y="1676400"/>
            <a:ext cx="2095500" cy="4191000"/>
          </a:xfrm>
          <a:prstGeom xmlns:a="http://schemas.openxmlformats.org/drawingml/2006/main" prst="rect">
            <a:avLst/>
          </a:prstGeom>
        </p:spPr>
      </p:pic>
      <p:sp>
        <p:nvSpPr>
          <p:cNvPr id="14" name="Text 9 9">
            <a:extLst xmlns:a="http://schemas.openxmlformats.org/drawingml/2006/main">
              <a:ext uri="{FF2B5EF4-FFF2-40B4-BE49-F238E27FC236}">
                <a16:creationId xmlns:a16="http://schemas.microsoft.com/office/drawing/2014/main" id="{2E005854-E4E9-649F-C839-546D5CF5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支持 .ics 导入的日历可读取，具体入口随应用与机型而定</a:t>
            </a:r>
          </a:p>
        </p:txBody>
      </p:sp>
      <p:sp>
        <p:nvSpPr>
          <p:cNvPr id="15" name="Text 9 10">
            <a:extLst xmlns:a="http://schemas.openxmlformats.org/drawingml/2006/main">
              <a:ext uri="{FF2B5EF4-FFF2-40B4-BE49-F238E27FC236}">
                <a16:creationId xmlns:a16="http://schemas.microsoft.com/office/drawing/2014/main" id="{F573E537-C101-06A8-15AC-47A1AE30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09 / 10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6" name="Theme selection">
            <a:extLst xmlns:a="http://schemas.openxmlformats.org/drawingml/2006/main">
              <a:ext uri="{FF2B5EF4-FFF2-40B4-BE49-F238E27FC236}">
                <a16:creationId xmlns:a16="http://schemas.microsoft.com/office/drawing/2014/main" id="{441FBCF0-D36E-4313-ABF8-6AFC7AB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4 套主题，选择保存在本机</a:t>
            </a:r>
          </a:p>
        </p:txBody>
      </p:sp>
    </p:spTree>
    <p:extLst>
      <p:ext uri="{BB962C8B-B14F-4D97-AF65-F5344CB8AC3E}">
        <p14:creationId xmlns:p14="http://schemas.microsoft.com/office/powerpoint/2010/main" val="392013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E3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0 1">
            <a:extLst xmlns:a="http://schemas.openxmlformats.org/drawingml/2006/main">
              <a:ext uri="{FF2B5EF4-FFF2-40B4-BE49-F238E27FC236}">
                <a16:creationId xmlns:a16="http://schemas.microsoft.com/office/drawing/2014/main" id="{D74D26EB-C82C-51D2-BBE3-33758BD0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95325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5100" b="1">
                <a:solidFill>
                  <a:srgbClr val="ECEFF4"/>
                </a:solidFill>
                <a:latin typeface="Bahnschrift"/>
                <a:ea typeface="Bahnschrift"/>
                <a:cs typeface="Bahnschrift"/>
              </a:rPr>
              <a:t>CampusMate</a:t>
            </a:r>
            <a:endParaRPr sz="5100" b="1">
              <a:solidFill>
                <a:srgbClr val="ECEFF4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3" name="Text 10 2">
            <a:extLst xmlns:a="http://schemas.openxmlformats.org/drawingml/2006/main">
              <a:ext uri="{FF2B5EF4-FFF2-40B4-BE49-F238E27FC236}">
                <a16:creationId xmlns:a16="http://schemas.microsoft.com/office/drawing/2014/main" id="{A6F0240F-B835-F084-38F7-2DFCB6CD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6572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525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课程、邮件与作业，</a:t>
            </a:r>
            <a:br>
              <a:rPr sz="3525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</a:br>
            <a:r>
              <a:rPr sz="3525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连到每天的学习安排</a:t>
            </a:r>
          </a:p>
        </p:txBody>
      </p:sp>
      <p:sp>
        <p:nvSpPr>
          <p:cNvPr id="4" name="Text 10 3">
            <a:extLst xmlns:a="http://schemas.openxmlformats.org/drawingml/2006/main">
              <a:ext uri="{FF2B5EF4-FFF2-40B4-BE49-F238E27FC236}">
                <a16:creationId xmlns:a16="http://schemas.microsoft.com/office/drawing/2014/main" id="{C91AE4B4-6455-6D7D-363D-2EEA1815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9774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250" b="1">
                <a:solidFill>
                  <a:srgbClr val="88C0D0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5" name="Text 10 4">
            <a:extLst xmlns:a="http://schemas.openxmlformats.org/drawingml/2006/main">
              <a:ext uri="{FF2B5EF4-FFF2-40B4-BE49-F238E27FC236}">
                <a16:creationId xmlns:a16="http://schemas.microsoft.com/office/drawing/2014/main" id="{0780D3A3-4932-0329-F142-619F42B3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899"/>
            <a:ext cx="3829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0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扩大真实课程验收</a:t>
            </a:r>
            <a:br>
              <a:rPr sz="210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</a:br>
            <a:r>
              <a:rPr sz="210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开展校内小范围试用</a:t>
            </a:r>
            <a:br>
              <a:rPr sz="210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</a:br>
            <a:r>
              <a:rPr sz="2100">
                <a:solidFill>
                  <a:srgbClr val="D8DEE9"/>
                </a:solidFill>
                <a:latin typeface="Microsoft YaHei"/>
                <a:ea typeface="Microsoft YaHei"/>
                <a:cs typeface="Microsoft YaHei"/>
              </a:rPr>
              <a:t>完善地图与群消息接入</a:t>
            </a:r>
          </a:p>
        </p:txBody>
      </p:sp>
      <p:sp>
        <p:nvSpPr>
          <p:cNvPr id="6" name="Text 10 5">
            <a:extLst xmlns:a="http://schemas.openxmlformats.org/drawingml/2006/main">
              <a:ext uri="{FF2B5EF4-FFF2-40B4-BE49-F238E27FC236}">
                <a16:creationId xmlns:a16="http://schemas.microsoft.com/office/drawing/2014/main" id="{C3A57E91-BC19-41BA-C78B-A2AE1D4C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399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00" b="1">
                <a:solidFill>
                  <a:srgbClr val="88C0D0"/>
                </a:solidFill>
                <a:latin typeface="Microsoft YaHei"/>
                <a:ea typeface="Microsoft YaHei"/>
                <a:cs typeface="Microsoft YaHei"/>
              </a:rPr>
              <a:t>AAA</a:t>
            </a:r>
            <a:r>
              <a:rPr sz="2100" b="1">
                <a:solidFill>
                  <a:srgbClr val="88C0D0"/>
                </a:solidFill>
                <a:latin typeface="Microsoft YaHei"/>
                <a:ea typeface="Microsoft YaHei"/>
                <a:cs typeface="Microsoft YaHei"/>
              </a:rPr>
              <a:t>罗德岛工程部</a:t>
            </a:r>
          </a:p>
        </p:txBody>
      </p:sp>
      <p:sp>
        <p:nvSpPr>
          <p:cNvPr id="7" name="Text 10 6">
            <a:extLst xmlns:a="http://schemas.openxmlformats.org/drawingml/2006/main">
              <a:ext uri="{FF2B5EF4-FFF2-40B4-BE49-F238E27FC236}">
                <a16:creationId xmlns:a16="http://schemas.microsoft.com/office/drawing/2014/main" id="{8043540E-3580-4572-7BD8-3CF3EB5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619375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钦佳麒</a:t>
            </a:r>
          </a:p>
        </p:txBody>
      </p:sp>
      <p:sp>
        <p:nvSpPr>
          <p:cNvPr id="8" name="Text 10 7">
            <a:extLst xmlns:a="http://schemas.openxmlformats.org/drawingml/2006/main">
              <a:ext uri="{FF2B5EF4-FFF2-40B4-BE49-F238E27FC236}">
                <a16:creationId xmlns:a16="http://schemas.microsoft.com/office/drawing/2014/main" id="{2CCBAF3D-2793-CF9E-E820-84274DD4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00674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575">
                <a:solidFill>
                  <a:srgbClr val="D8DEE9"/>
                </a:solidFill>
                <a:latin typeface="Bahnschrift"/>
                <a:ea typeface="Bahnschrift"/>
                <a:cs typeface="Bahnschrift"/>
              </a:rPr>
              <a:t>@David-goldenman</a:t>
            </a:r>
            <a:endParaRPr sz="1575">
              <a:solidFill>
                <a:srgbClr val="D8DEE9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9" name="Text 10 8">
            <a:extLst xmlns:a="http://schemas.openxmlformats.org/drawingml/2006/main">
              <a:ext uri="{FF2B5EF4-FFF2-40B4-BE49-F238E27FC236}">
                <a16:creationId xmlns:a16="http://schemas.microsoft.com/office/drawing/2014/main" id="{94A3A8E2-8354-BE80-D220-EA9A9F6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953000"/>
            <a:ext cx="2619375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杨涵</a:t>
            </a:r>
          </a:p>
        </p:txBody>
      </p:sp>
      <p:sp>
        <p:nvSpPr>
          <p:cNvPr id="10" name="Text 10 9">
            <a:extLst xmlns:a="http://schemas.openxmlformats.org/drawingml/2006/main">
              <a:ext uri="{FF2B5EF4-FFF2-40B4-BE49-F238E27FC236}">
                <a16:creationId xmlns:a16="http://schemas.microsoft.com/office/drawing/2014/main" id="{CAC989A1-8EF9-F43F-9465-259DE9DD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400674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575">
                <a:solidFill>
                  <a:srgbClr val="D8DEE9"/>
                </a:solidFill>
                <a:latin typeface="Bahnschrift"/>
                <a:ea typeface="Bahnschrift"/>
                <a:cs typeface="Bahnschrift"/>
              </a:rPr>
              <a:t>@flowing-wind</a:t>
            </a:r>
            <a:endParaRPr sz="1575">
              <a:solidFill>
                <a:srgbClr val="D8DEE9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1" name="Text 10 10">
            <a:extLst xmlns:a="http://schemas.openxmlformats.org/drawingml/2006/main">
              <a:ext uri="{FF2B5EF4-FFF2-40B4-BE49-F238E27FC236}">
                <a16:creationId xmlns:a16="http://schemas.microsoft.com/office/drawing/2014/main" id="{EEF811FB-E28D-9B6F-468F-7464282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53000"/>
            <a:ext cx="2619375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张天祺</a:t>
            </a:r>
          </a:p>
        </p:txBody>
      </p:sp>
      <p:sp>
        <p:nvSpPr>
          <p:cNvPr id="12" name="Text 10 11">
            <a:extLst xmlns:a="http://schemas.openxmlformats.org/drawingml/2006/main">
              <a:ext uri="{FF2B5EF4-FFF2-40B4-BE49-F238E27FC236}">
                <a16:creationId xmlns:a16="http://schemas.microsoft.com/office/drawing/2014/main" id="{E5E52F43-95B4-01E2-22F2-F54850A3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00674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575">
                <a:solidFill>
                  <a:srgbClr val="D8DEE9"/>
                </a:solidFill>
                <a:latin typeface="Bahnschrift"/>
                <a:ea typeface="Bahnschrift"/>
                <a:cs typeface="Bahnschrift"/>
              </a:rPr>
              <a:t>@Lucas-reconscope</a:t>
            </a:r>
            <a:endParaRPr sz="1575">
              <a:solidFill>
                <a:srgbClr val="D8DEE9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3" name="Text 10 12">
            <a:extLst xmlns:a="http://schemas.openxmlformats.org/drawingml/2006/main">
              <a:ext uri="{FF2B5EF4-FFF2-40B4-BE49-F238E27FC236}">
                <a16:creationId xmlns:a16="http://schemas.microsoft.com/office/drawing/2014/main" id="{D810F00F-EB67-B045-AD1B-68C086DC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953000"/>
            <a:ext cx="2619375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ECEFF4"/>
                </a:solidFill>
                <a:latin typeface="Microsoft YaHei"/>
                <a:ea typeface="Microsoft YaHei"/>
                <a:cs typeface="Microsoft YaHei"/>
              </a:rPr>
              <a:t>文玉涛</a:t>
            </a:r>
          </a:p>
        </p:txBody>
      </p:sp>
      <p:sp>
        <p:nvSpPr>
          <p:cNvPr id="14" name="Text 10 13">
            <a:extLst xmlns:a="http://schemas.openxmlformats.org/drawingml/2006/main">
              <a:ext uri="{FF2B5EF4-FFF2-40B4-BE49-F238E27FC236}">
                <a16:creationId xmlns:a16="http://schemas.microsoft.com/office/drawing/2014/main" id="{3AD311FB-4AFC-FF46-53F6-D2ACCB49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00674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575">
                <a:solidFill>
                  <a:srgbClr val="D8DEE9"/>
                </a:solidFill>
                <a:latin typeface="Bahnschrift"/>
                <a:ea typeface="Bahnschrift"/>
                <a:cs typeface="Bahnschrift"/>
              </a:rPr>
              <a:t>@wEn-EE</a:t>
            </a:r>
            <a:endParaRPr sz="1575">
              <a:solidFill>
                <a:srgbClr val="D8DEE9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5" name="Text 10 14">
            <a:extLst xmlns:a="http://schemas.openxmlformats.org/drawingml/2006/main">
              <a:ext uri="{FF2B5EF4-FFF2-40B4-BE49-F238E27FC236}">
                <a16:creationId xmlns:a16="http://schemas.microsoft.com/office/drawing/2014/main" id="{BEFE5B4F-2D01-B32E-DE75-470DC3EC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62675"/>
            <a:ext cx="1109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650">
                <a:solidFill>
                  <a:srgbClr val="88C0D0"/>
                </a:solidFill>
                <a:latin typeface="Bahnschrift"/>
                <a:ea typeface="Bahnschrift"/>
                <a:cs typeface="Bahnschrift"/>
              </a:rPr>
              <a:t>github.com/David-goldenman/Shanghaitech-2026-Hackthon</a:t>
            </a:r>
            <a:endParaRPr sz="1650">
              <a:solidFill>
                <a:srgbClr val="88C0D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6" name="Text 10 15">
            <a:extLst xmlns:a="http://schemas.openxmlformats.org/drawingml/2006/main">
              <a:ext uri="{FF2B5EF4-FFF2-40B4-BE49-F238E27FC236}">
                <a16:creationId xmlns:a16="http://schemas.microsoft.com/office/drawing/2014/main" id="{C090182E-E777-269F-4FC4-BA7410B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D8DEE9"/>
                </a:solidFill>
                <a:latin typeface="Bahnschrift"/>
                <a:ea typeface="Bahnschrift"/>
                <a:cs typeface="Bahnschrift"/>
              </a:rPr>
              <a:t>10 / 10</a:t>
            </a:r>
            <a:endParaRPr sz="1200">
              <a:solidFill>
                <a:srgbClr val="D8DEE9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229769048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1 1">
            <a:extLst xmlns:a="http://schemas.openxmlformats.org/drawingml/2006/main">
              <a:ext uri="{FF2B5EF4-FFF2-40B4-BE49-F238E27FC236}">
                <a16:creationId xmlns:a16="http://schemas.microsoft.com/office/drawing/2014/main" id="{2F7B3ABE-B032-C89C-49EE-F2167935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功能细节</a:t>
            </a:r>
          </a:p>
        </p:txBody>
      </p:sp>
      <p:graphicFrame>
        <p:nvGraphicFramePr>
          <p:cNvPr id="3" name="Table 11">
            <a:extLst xmlns:a="http://schemas.openxmlformats.org/drawingml/2006/main">
              <a:ext uri="{FF2B5EF4-FFF2-40B4-BE49-F238E27FC236}">
                <a16:creationId xmlns:a16="http://schemas.microsoft.com/office/drawing/2014/main" id="{374708E6-B5FD-4D22-A848-E29C29AD2CAC}"/>
              </a:ext>
            </a:extLst>
          </p:cNvPr>
          <p:cNvGraphicFramePr/>
          <p:nvPr/>
        </p:nvGraphicFramePr>
        <p:xfrm>
          <a:off xmlns:a="http://schemas.openxmlformats.org/drawingml/2006/main" x="495300" y="1638300"/>
          <a:ext xmlns:a="http://schemas.openxmlformats.org/drawingml/2006/main" cx="11201400" cy="42291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9105900"/>
              </a:tblGrid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ECEF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38100" cmpd="sng">
                      <a:solidFill>
                        <a:schemeClr val="lt1"/>
                      </a:solidFill>
                    </a:lnB>
                    <a:solidFill>
                      <a:srgbClr val="3B42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ECEF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可补充的功能细节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38100" cmpd="sng">
                      <a:solidFill>
                        <a:schemeClr val="lt1"/>
                      </a:solidFill>
                    </a:lnB>
                    <a:solidFill>
                      <a:srgbClr val="3B425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课程与作业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自动／手动关联课程，录播状态筛选，提交与评分状态分别展示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邮箱与通知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自然语言偏好、分类依据、日周总结，变化后复核，活动参加确认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时间表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校历、近四周截止、.ics 导出、个人安排、本地课程调整与回执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学习助手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</a:t>
                      </a: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／</a:t>
                      </a: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PPTX </a:t>
                      </a: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页级读取、可选识图／</a:t>
                      </a: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OCR</a:t>
                      </a: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、多会话、学习档案与提醒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本机设置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学校统一登录、邮箱 </a:t>
                      </a: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IMAP</a:t>
                      </a:r>
                      <a:r>
                        <a:rPr sz="1800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、多模型、模块启停、数据备份与恢复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1 3">
            <a:extLst xmlns:a="http://schemas.openxmlformats.org/drawingml/2006/main">
              <a:ext uri="{FF2B5EF4-FFF2-40B4-BE49-F238E27FC236}">
                <a16:creationId xmlns:a16="http://schemas.microsoft.com/office/drawing/2014/main" id="{8CE5E5F5-F00C-0347-EDC6-560F0DA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答辩备份，按问题选择补充</a:t>
            </a:r>
          </a:p>
        </p:txBody>
      </p:sp>
      <p:sp>
        <p:nvSpPr>
          <p:cNvPr id="5" name="Text 11 4">
            <a:extLst xmlns:a="http://schemas.openxmlformats.org/drawingml/2006/main">
              <a:ext uri="{FF2B5EF4-FFF2-40B4-BE49-F238E27FC236}">
                <a16:creationId xmlns:a16="http://schemas.microsoft.com/office/drawing/2014/main" id="{0231D91C-58F1-87A3-BB44-5FC07583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备份 </a:t>
            </a: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1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386777863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2 1">
            <a:extLst xmlns:a="http://schemas.openxmlformats.org/drawingml/2006/main">
              <a:ext uri="{FF2B5EF4-FFF2-40B4-BE49-F238E27FC236}">
                <a16:creationId xmlns:a16="http://schemas.microsoft.com/office/drawing/2014/main" id="{171F0B96-68CD-C329-F047-A2B4D3AC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真实验收与演示范围</a:t>
            </a:r>
          </a:p>
        </p:txBody>
      </p:sp>
      <p:graphicFrame>
        <p:nvGraphicFramePr>
          <p:cNvPr id="3" name="Table 12">
            <a:extLst xmlns:a="http://schemas.openxmlformats.org/drawingml/2006/main">
              <a:ext uri="{FF2B5EF4-FFF2-40B4-BE49-F238E27FC236}">
                <a16:creationId xmlns:a16="http://schemas.microsoft.com/office/drawing/2014/main" id="{7CBAB036-C1EB-400B-AC30-DF6E7BF8D023}"/>
              </a:ext>
            </a:extLst>
          </p:cNvPr>
          <p:cNvGraphicFramePr/>
          <p:nvPr/>
        </p:nvGraphicFramePr>
        <p:xfrm>
          <a:off xmlns:a="http://schemas.openxmlformats.org/drawingml/2006/main" x="495300" y="1638300"/>
          <a:ext xmlns:a="http://schemas.openxmlformats.org/drawingml/2006/main" cx="11201400" cy="42291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/>
                <a:gridCol w="5429250"/>
                <a:gridCol w="3390900"/>
              </a:tblGrid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1">
                          <a:solidFill>
                            <a:srgbClr val="ECEF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38100" cmpd="sng">
                      <a:solidFill>
                        <a:schemeClr val="lt1"/>
                      </a:solidFill>
                    </a:lnB>
                    <a:solidFill>
                      <a:srgbClr val="3B42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1">
                          <a:solidFill>
                            <a:srgbClr val="ECEF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已记录的验证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38100" cmpd="sng">
                      <a:solidFill>
                        <a:schemeClr val="lt1"/>
                      </a:solidFill>
                    </a:lnB>
                    <a:solidFill>
                      <a:srgbClr val="3B42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1">
                          <a:solidFill>
                            <a:srgbClr val="ECEF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38100" cmpd="sng">
                      <a:solidFill>
                        <a:schemeClr val="lt1"/>
                      </a:solidFill>
                    </a:lnB>
                    <a:solidFill>
                      <a:srgbClr val="3B425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学校来源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个来源完成登录与基础同步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日记录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登录恢复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设备恢复、重复同步与重启验证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以记录列出的来源为准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学习建议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真实模型查询作业、读取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、给出选课建议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可核对原文与页码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 </a:t>
                      </a: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产品画面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真实前端配合脱敏数据与示例回答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便于展示完整使用场景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E5E9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后续验收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手机日历导入、扫描课件、真实课程群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725" b="0">
                          <a:solidFill>
                            <a:srgbClr val="2E34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继续扩展实机验证范围</a:t>
                      </a:r>
                    </a:p>
                  </a:txBody>
                  <a:tcPr marL="152400" marR="152400" marT="127000" marB="1016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2 3">
            <a:extLst xmlns:a="http://schemas.openxmlformats.org/drawingml/2006/main">
              <a:ext uri="{FF2B5EF4-FFF2-40B4-BE49-F238E27FC236}">
                <a16:creationId xmlns:a16="http://schemas.microsoft.com/office/drawing/2014/main" id="{F250AFA8-6051-A5F1-F6C8-DF4C419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验收依据：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docs/LIVE_ACCEPTANCE.md 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与各模块验收记录</a:t>
            </a:r>
          </a:p>
        </p:txBody>
      </p:sp>
      <p:sp>
        <p:nvSpPr>
          <p:cNvPr id="5" name="Text 12 4">
            <a:extLst xmlns:a="http://schemas.openxmlformats.org/drawingml/2006/main">
              <a:ext uri="{FF2B5EF4-FFF2-40B4-BE49-F238E27FC236}">
                <a16:creationId xmlns:a16="http://schemas.microsoft.com/office/drawing/2014/main" id="{C4AEE068-8175-14C8-2590-738BB1E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备份 </a:t>
            </a: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2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554936847"/>
      </p:ext>
    </p:extLst>
  </p:cSld>
</p:sld>
</file>

<file path=ppt/slides/slide1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EC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3 1">
            <a:extLst xmlns:a="http://schemas.openxmlformats.org/drawingml/2006/main">
              <a:ext uri="{FF2B5EF4-FFF2-40B4-BE49-F238E27FC236}">
                <a16:creationId xmlns:a16="http://schemas.microsoft.com/office/drawing/2014/main" id="{02C5567B-DCB3-D6C9-71C7-F7F7289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4"/>
            <a:ext cx="1120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150" b="1">
                <a:solidFill>
                  <a:srgbClr val="2E3440"/>
                </a:solidFill>
                <a:latin typeface="Microsoft YaHei"/>
                <a:ea typeface="Microsoft YaHei"/>
                <a:cs typeface="Microsoft YaHei"/>
              </a:rPr>
              <a:t>校园地图与课程群消息</a:t>
            </a:r>
          </a:p>
        </p:txBody>
      </p:sp>
      <p:pic>
        <p:nvPicPr>
          <p:cNvPr id="4" name="Image 13 map">
            <a:extLst xmlns:a="http://schemas.openxmlformats.org/drawingml/2006/main">
              <a:ext uri="{FF2B5EF4-FFF2-40B4-BE49-F238E27FC236}">
                <a16:creationId xmlns:a16="http://schemas.microsoft.com/office/drawing/2014/main" id="{FD219628-F451-4D9E-8571-1287E05EE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f555d715c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793" y="1647825"/>
            <a:ext cx="5374640" cy="2628900"/>
          </a:xfrm>
          <a:prstGeom xmlns:a="http://schemas.openxmlformats.org/drawingml/2006/main" prst="rect">
            <a:avLst/>
          </a:prstGeom>
        </p:spPr>
      </p:pic>
      <p:pic>
        <p:nvPicPr>
          <p:cNvPr id="6" name="Image 13 groups">
            <a:extLst xmlns:a="http://schemas.openxmlformats.org/drawingml/2006/main">
              <a:ext uri="{FF2B5EF4-FFF2-40B4-BE49-F238E27FC236}">
                <a16:creationId xmlns:a16="http://schemas.microsoft.com/office/drawing/2014/main" id="{A468837E-5014-4BC1-B054-A883A2F51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3f9c8db9f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67" y="1647825"/>
            <a:ext cx="5374640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Text 13 4">
            <a:extLst xmlns:a="http://schemas.openxmlformats.org/drawingml/2006/main">
              <a:ext uri="{FF2B5EF4-FFF2-40B4-BE49-F238E27FC236}">
                <a16:creationId xmlns:a16="http://schemas.microsoft.com/office/drawing/2014/main" id="{37FD5E38-6B0E-68A8-6BAA-AB181CB0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81525"/>
            <a:ext cx="538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地图试用</a:t>
            </a:r>
          </a:p>
        </p:txBody>
      </p:sp>
      <p:sp>
        <p:nvSpPr>
          <p:cNvPr id="8" name="Text 13 5">
            <a:extLst xmlns:a="http://schemas.openxmlformats.org/drawingml/2006/main">
              <a:ext uri="{FF2B5EF4-FFF2-40B4-BE49-F238E27FC236}">
                <a16:creationId xmlns:a16="http://schemas.microsoft.com/office/drawing/2014/main" id="{BBD1F2F1-A217-96EC-624E-5CA51391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49"/>
            <a:ext cx="538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建筑定位、室外步行与电梯说明</a:t>
            </a:r>
            <a:b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</a:b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通行与入口仍需现场核验</a:t>
            </a:r>
          </a:p>
        </p:txBody>
      </p:sp>
      <p:sp>
        <p:nvSpPr>
          <p:cNvPr id="9" name="Text 13 6">
            <a:extLst xmlns:a="http://schemas.openxmlformats.org/drawingml/2006/main">
              <a:ext uri="{FF2B5EF4-FFF2-40B4-BE49-F238E27FC236}">
                <a16:creationId xmlns:a16="http://schemas.microsoft.com/office/drawing/2014/main" id="{0CC95303-99CE-CF03-7A24-DA5E84CB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81525"/>
            <a:ext cx="538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微信与 </a:t>
            </a: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QQ </a:t>
            </a:r>
            <a:r>
              <a:rPr sz="2175" b="1">
                <a:solidFill>
                  <a:srgbClr val="5E81AC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0" name="Text 13 7">
            <a:extLst xmlns:a="http://schemas.openxmlformats.org/drawingml/2006/main">
              <a:ext uri="{FF2B5EF4-FFF2-40B4-BE49-F238E27FC236}">
                <a16:creationId xmlns:a16="http://schemas.microsoft.com/office/drawing/2014/main" id="{0F8AB23E-935D-41ED-CAE3-B504B261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48249"/>
            <a:ext cx="538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>
              <a:defRPr sz="1875">
                <a:latin typeface="Microsoft YaHei"/>
                <a:ea typeface="Microsoft YaHei"/>
                <a:cs typeface="Microsoft YaHei"/>
              </a:defRPr>
            </a:defPPr>
            <a:lvl1pPr>
              <a:defRPr sz="1875">
                <a:latin typeface="Microsoft YaHei"/>
                <a:ea typeface="Microsoft YaHei"/>
                <a:cs typeface="Microsoft YaHei"/>
              </a:defRPr>
            </a:lvl1pPr>
            <a:lvl2pPr>
              <a:defRPr sz="1875">
                <a:latin typeface="Microsoft YaHei"/>
                <a:ea typeface="Microsoft YaHei"/>
                <a:cs typeface="Microsoft YaHei"/>
              </a:defRPr>
            </a:lvl2pPr>
            <a:lvl3pPr>
              <a:defRPr sz="1875">
                <a:latin typeface="Microsoft YaHei"/>
                <a:ea typeface="Microsoft YaHei"/>
                <a:cs typeface="Microsoft YaHei"/>
              </a:defRPr>
            </a:lvl3pPr>
            <a:lvl4pPr>
              <a:defRPr sz="1875">
                <a:latin typeface="Microsoft YaHei"/>
                <a:ea typeface="Microsoft YaHei"/>
                <a:cs typeface="Microsoft YaHei"/>
              </a:defRPr>
            </a:lvl4pPr>
            <a:lvl5pPr>
              <a:defRPr sz="1875">
                <a:latin typeface="Microsoft YaHei"/>
                <a:ea typeface="Microsoft YaHei"/>
                <a:cs typeface="Microsoft YaHei"/>
              </a:defRPr>
            </a:lvl5pPr>
            <a:lvl6pPr>
              <a:defRPr sz="1875">
                <a:latin typeface="Microsoft YaHei"/>
                <a:ea typeface="Microsoft YaHei"/>
                <a:cs typeface="Microsoft YaHei"/>
              </a:defRPr>
            </a:lvl6pPr>
            <a:lvl7pPr>
              <a:defRPr sz="1875">
                <a:latin typeface="Microsoft YaHei"/>
                <a:ea typeface="Microsoft YaHei"/>
                <a:cs typeface="Microsoft YaHei"/>
              </a:defRPr>
            </a:lvl7pPr>
            <a:lvl8pPr>
              <a:defRPr sz="1875">
                <a:latin typeface="Microsoft YaHei"/>
                <a:ea typeface="Microsoft YaHei"/>
                <a:cs typeface="Microsoft YaHei"/>
              </a:defRPr>
            </a:lvl8pPr>
            <a:lvl9pPr>
              <a:defRPr sz="1875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微信主实例检测与 QQ 连接引导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选群、原文提取、确认与撤销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真实课程群增量验收待完成</a:t>
            </a:r>
          </a:p>
        </p:txBody>
      </p:sp>
      <p:sp>
        <p:nvSpPr>
          <p:cNvPr id="11" name="Text 13 8">
            <a:extLst xmlns:a="http://schemas.openxmlformats.org/drawingml/2006/main">
              <a:ext uri="{FF2B5EF4-FFF2-40B4-BE49-F238E27FC236}">
                <a16:creationId xmlns:a16="http://schemas.microsoft.com/office/drawing/2014/main" id="{5BBDE0C2-864C-BEA7-FC43-99955EA8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地图底图：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© OpenStreetMap contributors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350">
                <a:solidFill>
                  <a:srgbClr val="4C566A"/>
                </a:solidFill>
                <a:latin typeface="Microsoft YaHei"/>
                <a:ea typeface="Microsoft YaHei"/>
                <a:cs typeface="Microsoft YaHei"/>
              </a:rPr>
              <a:t>ODbL 1.0</a:t>
            </a:r>
            <a:endParaRPr sz="1350">
              <a:solidFill>
                <a:srgbClr val="4C5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 13 9">
            <a:extLst xmlns:a="http://schemas.openxmlformats.org/drawingml/2006/main">
              <a:ext uri="{FF2B5EF4-FFF2-40B4-BE49-F238E27FC236}">
                <a16:creationId xmlns:a16="http://schemas.microsoft.com/office/drawing/2014/main" id="{73674486-972F-29D5-1AA7-0CC4DCC8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</a:pP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备份 </a:t>
            </a:r>
            <a:r>
              <a:rPr sz="1200">
                <a:solidFill>
                  <a:srgbClr val="4C566A"/>
                </a:solidFill>
                <a:latin typeface="Bahnschrift"/>
                <a:ea typeface="Bahnschrift"/>
                <a:cs typeface="Bahnschrift"/>
              </a:rPr>
              <a:t>3</a:t>
            </a:r>
            <a:endParaRPr sz="1200">
              <a:solidFill>
                <a:srgbClr val="4C566A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73710982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AAA罗德岛工程部</dc:creator>
  <lastModifiedBy>AAA罗德岛工程部</lastModifiedBy>
  <dc:title>CampusMate 黑客松路演</dc:title>
  <dcterms:created xsi:type="dcterms:W3CDTF">2026-10-18T07:12:10.5730000Z</dcterms:created>
  <dcterms:modified xsi:type="dcterms:W3CDTF">2026-10-18T07:12:10.5730000Z</dcterms:modified>
</coreProperties>
</file>